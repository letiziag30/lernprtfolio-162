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milen\Downloads\cc-d-05.08.1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milen\Downloads\cc-d-05.08.1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milen\Downloads\cc-d-05.08.11.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Schweiz</a:t>
            </a:r>
            <a:r>
              <a:rPr lang="en-US" baseline="0"/>
              <a:t> HVPI über den Zeitraum 01.2006 - 04.2021</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INDEX!$A$45</c:f>
              <c:strCache>
                <c:ptCount val="1"/>
                <c:pt idx="0">
                  <c:v>Schweiz¹</c:v>
                </c:pt>
              </c:strCache>
            </c:strRef>
          </c:tx>
          <c:spPr>
            <a:ln w="28575" cap="rnd">
              <a:solidFill>
                <a:schemeClr val="accent1"/>
              </a:solidFill>
              <a:round/>
            </a:ln>
            <a:effectLst/>
          </c:spPr>
          <c:marker>
            <c:symbol val="none"/>
          </c:marker>
          <c:cat>
            <c:strRef>
              <c:f>INDEX!$D$10:$GG$10</c:f>
              <c:strCache>
                <c:ptCount val="186"/>
                <c:pt idx="0">
                  <c:v>1.2006</c:v>
                </c:pt>
                <c:pt idx="1">
                  <c:v>2.2006</c:v>
                </c:pt>
                <c:pt idx="2">
                  <c:v>3.2006</c:v>
                </c:pt>
                <c:pt idx="3">
                  <c:v>4.2006</c:v>
                </c:pt>
                <c:pt idx="4">
                  <c:v>5.2006</c:v>
                </c:pt>
                <c:pt idx="5">
                  <c:v>6.2006</c:v>
                </c:pt>
                <c:pt idx="6">
                  <c:v>7.2006</c:v>
                </c:pt>
                <c:pt idx="7">
                  <c:v>8.2006</c:v>
                </c:pt>
                <c:pt idx="8">
                  <c:v>9.2006</c:v>
                </c:pt>
                <c:pt idx="9">
                  <c:v>10.2006</c:v>
                </c:pt>
                <c:pt idx="10">
                  <c:v>11.2006</c:v>
                </c:pt>
                <c:pt idx="11">
                  <c:v>12.2006</c:v>
                </c:pt>
                <c:pt idx="12">
                  <c:v>1.2007</c:v>
                </c:pt>
                <c:pt idx="13">
                  <c:v>2.2007</c:v>
                </c:pt>
                <c:pt idx="14">
                  <c:v>3.2007</c:v>
                </c:pt>
                <c:pt idx="15">
                  <c:v>4.2007</c:v>
                </c:pt>
                <c:pt idx="16">
                  <c:v>5.2007</c:v>
                </c:pt>
                <c:pt idx="17">
                  <c:v>6.2007</c:v>
                </c:pt>
                <c:pt idx="18">
                  <c:v>7.2007</c:v>
                </c:pt>
                <c:pt idx="19">
                  <c:v>8.2007</c:v>
                </c:pt>
                <c:pt idx="20">
                  <c:v>9.2007</c:v>
                </c:pt>
                <c:pt idx="21">
                  <c:v>10.2007</c:v>
                </c:pt>
                <c:pt idx="22">
                  <c:v>11.2007</c:v>
                </c:pt>
                <c:pt idx="23">
                  <c:v>12.2007</c:v>
                </c:pt>
                <c:pt idx="24">
                  <c:v>1.2008</c:v>
                </c:pt>
                <c:pt idx="25">
                  <c:v>2.2008</c:v>
                </c:pt>
                <c:pt idx="26">
                  <c:v>3.2008</c:v>
                </c:pt>
                <c:pt idx="27">
                  <c:v>4.2008</c:v>
                </c:pt>
                <c:pt idx="28">
                  <c:v>5.2008</c:v>
                </c:pt>
                <c:pt idx="29">
                  <c:v>6.2008</c:v>
                </c:pt>
                <c:pt idx="30">
                  <c:v>7.2008</c:v>
                </c:pt>
                <c:pt idx="31">
                  <c:v>8.2008</c:v>
                </c:pt>
                <c:pt idx="32">
                  <c:v>9.2008</c:v>
                </c:pt>
                <c:pt idx="33">
                  <c:v>10.2008</c:v>
                </c:pt>
                <c:pt idx="34">
                  <c:v>11.2008</c:v>
                </c:pt>
                <c:pt idx="35">
                  <c:v>12.2008</c:v>
                </c:pt>
                <c:pt idx="36">
                  <c:v>1.2009</c:v>
                </c:pt>
                <c:pt idx="37">
                  <c:v>2.2009</c:v>
                </c:pt>
                <c:pt idx="38">
                  <c:v>3.2009</c:v>
                </c:pt>
                <c:pt idx="39">
                  <c:v>4.2009</c:v>
                </c:pt>
                <c:pt idx="40">
                  <c:v>5.2009</c:v>
                </c:pt>
                <c:pt idx="41">
                  <c:v>6.2009</c:v>
                </c:pt>
                <c:pt idx="42">
                  <c:v>7.2009</c:v>
                </c:pt>
                <c:pt idx="43">
                  <c:v>8.2009</c:v>
                </c:pt>
                <c:pt idx="44">
                  <c:v>9.2009</c:v>
                </c:pt>
                <c:pt idx="45">
                  <c:v>10.2009</c:v>
                </c:pt>
                <c:pt idx="46">
                  <c:v>11.2009</c:v>
                </c:pt>
                <c:pt idx="47">
                  <c:v>12.2009</c:v>
                </c:pt>
                <c:pt idx="48">
                  <c:v>1.2010</c:v>
                </c:pt>
                <c:pt idx="49">
                  <c:v>2.2010</c:v>
                </c:pt>
                <c:pt idx="50">
                  <c:v>3.2010</c:v>
                </c:pt>
                <c:pt idx="51">
                  <c:v>4.2010</c:v>
                </c:pt>
                <c:pt idx="52">
                  <c:v>5.2010</c:v>
                </c:pt>
                <c:pt idx="53">
                  <c:v>6.2010</c:v>
                </c:pt>
                <c:pt idx="54">
                  <c:v>7.2010</c:v>
                </c:pt>
                <c:pt idx="55">
                  <c:v>8.2010</c:v>
                </c:pt>
                <c:pt idx="56">
                  <c:v>9.2010</c:v>
                </c:pt>
                <c:pt idx="57">
                  <c:v>10.2010</c:v>
                </c:pt>
                <c:pt idx="58">
                  <c:v>11.2010</c:v>
                </c:pt>
                <c:pt idx="59">
                  <c:v>12.2010</c:v>
                </c:pt>
                <c:pt idx="60">
                  <c:v>1.2011</c:v>
                </c:pt>
                <c:pt idx="61">
                  <c:v>2.2011</c:v>
                </c:pt>
                <c:pt idx="62">
                  <c:v>3.2011</c:v>
                </c:pt>
                <c:pt idx="63">
                  <c:v>4.2011</c:v>
                </c:pt>
                <c:pt idx="64">
                  <c:v>5.2011</c:v>
                </c:pt>
                <c:pt idx="65">
                  <c:v>6.2011</c:v>
                </c:pt>
                <c:pt idx="66">
                  <c:v>7.2011</c:v>
                </c:pt>
                <c:pt idx="67">
                  <c:v>8.2011</c:v>
                </c:pt>
                <c:pt idx="68">
                  <c:v>9.2011</c:v>
                </c:pt>
                <c:pt idx="69">
                  <c:v>10.2011</c:v>
                </c:pt>
                <c:pt idx="70">
                  <c:v>11.2011</c:v>
                </c:pt>
                <c:pt idx="71">
                  <c:v>12.2011</c:v>
                </c:pt>
                <c:pt idx="72">
                  <c:v>1.2012</c:v>
                </c:pt>
                <c:pt idx="73">
                  <c:v>2.2012</c:v>
                </c:pt>
                <c:pt idx="74">
                  <c:v>3.2012</c:v>
                </c:pt>
                <c:pt idx="75">
                  <c:v>4.20112</c:v>
                </c:pt>
                <c:pt idx="76">
                  <c:v>5.2012</c:v>
                </c:pt>
                <c:pt idx="77">
                  <c:v>6.2012</c:v>
                </c:pt>
                <c:pt idx="78">
                  <c:v>7.2012</c:v>
                </c:pt>
                <c:pt idx="79">
                  <c:v>8.2012</c:v>
                </c:pt>
                <c:pt idx="80">
                  <c:v>9.2012</c:v>
                </c:pt>
                <c:pt idx="81">
                  <c:v>10.2012</c:v>
                </c:pt>
                <c:pt idx="82">
                  <c:v>11.2012</c:v>
                </c:pt>
                <c:pt idx="83">
                  <c:v>12.2012</c:v>
                </c:pt>
                <c:pt idx="84">
                  <c:v>1.2013</c:v>
                </c:pt>
                <c:pt idx="85">
                  <c:v>2.2013</c:v>
                </c:pt>
                <c:pt idx="86">
                  <c:v>3.2013</c:v>
                </c:pt>
                <c:pt idx="87">
                  <c:v>4.2013</c:v>
                </c:pt>
                <c:pt idx="88">
                  <c:v>5.2013</c:v>
                </c:pt>
                <c:pt idx="89">
                  <c:v>6.2013</c:v>
                </c:pt>
                <c:pt idx="90">
                  <c:v>7.2013</c:v>
                </c:pt>
                <c:pt idx="91">
                  <c:v>8.2013</c:v>
                </c:pt>
                <c:pt idx="92">
                  <c:v>9.2013</c:v>
                </c:pt>
                <c:pt idx="93">
                  <c:v>10.2013</c:v>
                </c:pt>
                <c:pt idx="94">
                  <c:v>11.2013</c:v>
                </c:pt>
                <c:pt idx="95">
                  <c:v>12.2013</c:v>
                </c:pt>
                <c:pt idx="96">
                  <c:v>1.2014</c:v>
                </c:pt>
                <c:pt idx="97">
                  <c:v>2.2014</c:v>
                </c:pt>
                <c:pt idx="98">
                  <c:v>3.2014</c:v>
                </c:pt>
                <c:pt idx="99">
                  <c:v>4.2014</c:v>
                </c:pt>
                <c:pt idx="100">
                  <c:v>5.2014</c:v>
                </c:pt>
                <c:pt idx="101">
                  <c:v>6.2014</c:v>
                </c:pt>
                <c:pt idx="102">
                  <c:v>7.2014</c:v>
                </c:pt>
                <c:pt idx="103">
                  <c:v>8.2014</c:v>
                </c:pt>
                <c:pt idx="104">
                  <c:v>9.2014</c:v>
                </c:pt>
                <c:pt idx="105">
                  <c:v>10.2014</c:v>
                </c:pt>
                <c:pt idx="106">
                  <c:v>11.2014</c:v>
                </c:pt>
                <c:pt idx="107">
                  <c:v>12.2014</c:v>
                </c:pt>
                <c:pt idx="108">
                  <c:v>1.2015</c:v>
                </c:pt>
                <c:pt idx="109">
                  <c:v>2.2015</c:v>
                </c:pt>
                <c:pt idx="110">
                  <c:v>3.2015</c:v>
                </c:pt>
                <c:pt idx="111">
                  <c:v>4.2015</c:v>
                </c:pt>
                <c:pt idx="112">
                  <c:v>5.2015</c:v>
                </c:pt>
                <c:pt idx="113">
                  <c:v>6.2015</c:v>
                </c:pt>
                <c:pt idx="114">
                  <c:v>7.2015</c:v>
                </c:pt>
                <c:pt idx="115">
                  <c:v>8.2015</c:v>
                </c:pt>
                <c:pt idx="116">
                  <c:v>9.2015</c:v>
                </c:pt>
                <c:pt idx="117">
                  <c:v>10.2015</c:v>
                </c:pt>
                <c:pt idx="118">
                  <c:v>11.2015</c:v>
                </c:pt>
                <c:pt idx="119">
                  <c:v>12.2015</c:v>
                </c:pt>
                <c:pt idx="120">
                  <c:v>1.2016</c:v>
                </c:pt>
                <c:pt idx="121">
                  <c:v>2.2016</c:v>
                </c:pt>
                <c:pt idx="122">
                  <c:v>3.2016</c:v>
                </c:pt>
                <c:pt idx="123">
                  <c:v>4.2016</c:v>
                </c:pt>
                <c:pt idx="124">
                  <c:v>5.2016</c:v>
                </c:pt>
                <c:pt idx="125">
                  <c:v>6.2016</c:v>
                </c:pt>
                <c:pt idx="126">
                  <c:v>7.2016</c:v>
                </c:pt>
                <c:pt idx="127">
                  <c:v>8.2016</c:v>
                </c:pt>
                <c:pt idx="128">
                  <c:v>9.2016</c:v>
                </c:pt>
                <c:pt idx="129">
                  <c:v>10.2016</c:v>
                </c:pt>
                <c:pt idx="130">
                  <c:v>11.2016</c:v>
                </c:pt>
                <c:pt idx="131">
                  <c:v>12.2016</c:v>
                </c:pt>
                <c:pt idx="132">
                  <c:v>1.2017</c:v>
                </c:pt>
                <c:pt idx="133">
                  <c:v>2.2017</c:v>
                </c:pt>
                <c:pt idx="134">
                  <c:v>3.2017</c:v>
                </c:pt>
                <c:pt idx="135">
                  <c:v>4.2017</c:v>
                </c:pt>
                <c:pt idx="136">
                  <c:v>5.2017</c:v>
                </c:pt>
                <c:pt idx="137">
                  <c:v>6.2017</c:v>
                </c:pt>
                <c:pt idx="138">
                  <c:v>7.2017</c:v>
                </c:pt>
                <c:pt idx="139">
                  <c:v>8.2017</c:v>
                </c:pt>
                <c:pt idx="140">
                  <c:v>9.2017</c:v>
                </c:pt>
                <c:pt idx="141">
                  <c:v>10.2017</c:v>
                </c:pt>
                <c:pt idx="142">
                  <c:v>11.2017</c:v>
                </c:pt>
                <c:pt idx="143">
                  <c:v>12.2017</c:v>
                </c:pt>
                <c:pt idx="144">
                  <c:v>1.2018</c:v>
                </c:pt>
                <c:pt idx="145">
                  <c:v>2.2018</c:v>
                </c:pt>
                <c:pt idx="146">
                  <c:v>3.2018</c:v>
                </c:pt>
                <c:pt idx="147">
                  <c:v>4.2018</c:v>
                </c:pt>
                <c:pt idx="148">
                  <c:v>5.2018</c:v>
                </c:pt>
                <c:pt idx="149">
                  <c:v>6.2018</c:v>
                </c:pt>
                <c:pt idx="150">
                  <c:v>7.2018</c:v>
                </c:pt>
                <c:pt idx="151">
                  <c:v>8.2018</c:v>
                </c:pt>
                <c:pt idx="152">
                  <c:v>9.2018</c:v>
                </c:pt>
                <c:pt idx="153">
                  <c:v>10.2018</c:v>
                </c:pt>
                <c:pt idx="154">
                  <c:v>11.2018</c:v>
                </c:pt>
                <c:pt idx="155">
                  <c:v>12.2018</c:v>
                </c:pt>
                <c:pt idx="156">
                  <c:v>1.2019</c:v>
                </c:pt>
                <c:pt idx="157">
                  <c:v>2.2019</c:v>
                </c:pt>
                <c:pt idx="158">
                  <c:v>3.2019</c:v>
                </c:pt>
                <c:pt idx="159">
                  <c:v>4.2019</c:v>
                </c:pt>
                <c:pt idx="160">
                  <c:v>5.2019</c:v>
                </c:pt>
                <c:pt idx="161">
                  <c:v>6.2019</c:v>
                </c:pt>
                <c:pt idx="162">
                  <c:v>7.2019</c:v>
                </c:pt>
                <c:pt idx="163">
                  <c:v>8.2019</c:v>
                </c:pt>
                <c:pt idx="164">
                  <c:v>9.2019</c:v>
                </c:pt>
                <c:pt idx="165">
                  <c:v>10.2019</c:v>
                </c:pt>
                <c:pt idx="166">
                  <c:v>11.2019</c:v>
                </c:pt>
                <c:pt idx="167">
                  <c:v>12.2019</c:v>
                </c:pt>
                <c:pt idx="168">
                  <c:v>1.2020</c:v>
                </c:pt>
                <c:pt idx="169">
                  <c:v>2.2020</c:v>
                </c:pt>
                <c:pt idx="170">
                  <c:v>3.2020</c:v>
                </c:pt>
                <c:pt idx="171">
                  <c:v>4.2020</c:v>
                </c:pt>
                <c:pt idx="172">
                  <c:v>5.2020</c:v>
                </c:pt>
                <c:pt idx="173">
                  <c:v>6.2020</c:v>
                </c:pt>
                <c:pt idx="174">
                  <c:v>7.2020</c:v>
                </c:pt>
                <c:pt idx="175">
                  <c:v>8.2020</c:v>
                </c:pt>
                <c:pt idx="176">
                  <c:v>9.2020</c:v>
                </c:pt>
                <c:pt idx="177">
                  <c:v>10.2020</c:v>
                </c:pt>
                <c:pt idx="178">
                  <c:v>11.2020</c:v>
                </c:pt>
                <c:pt idx="179">
                  <c:v>12.2020</c:v>
                </c:pt>
                <c:pt idx="180">
                  <c:v>1.2021</c:v>
                </c:pt>
                <c:pt idx="181">
                  <c:v>2.2021</c:v>
                </c:pt>
                <c:pt idx="182">
                  <c:v>3.2021</c:v>
                </c:pt>
                <c:pt idx="183">
                  <c:v>4.2021</c:v>
                </c:pt>
                <c:pt idx="184">
                  <c:v>5.2021</c:v>
                </c:pt>
                <c:pt idx="185">
                  <c:v>6.2021</c:v>
                </c:pt>
              </c:strCache>
            </c:strRef>
          </c:cat>
          <c:val>
            <c:numRef>
              <c:f>INDEX!$D$45:$GG$45</c:f>
              <c:numCache>
                <c:formatCode>0.0</c:formatCode>
                <c:ptCount val="186"/>
                <c:pt idx="0">
                  <c:v>97.9</c:v>
                </c:pt>
                <c:pt idx="1">
                  <c:v>98.1</c:v>
                </c:pt>
                <c:pt idx="2">
                  <c:v>98</c:v>
                </c:pt>
                <c:pt idx="3">
                  <c:v>98.8</c:v>
                </c:pt>
                <c:pt idx="4">
                  <c:v>98.9</c:v>
                </c:pt>
                <c:pt idx="5">
                  <c:v>98.9</c:v>
                </c:pt>
                <c:pt idx="6">
                  <c:v>98.3</c:v>
                </c:pt>
                <c:pt idx="7">
                  <c:v>98.4</c:v>
                </c:pt>
                <c:pt idx="8">
                  <c:v>98.2</c:v>
                </c:pt>
                <c:pt idx="9">
                  <c:v>98.5</c:v>
                </c:pt>
                <c:pt idx="10">
                  <c:v>98.4</c:v>
                </c:pt>
                <c:pt idx="11">
                  <c:v>98.4</c:v>
                </c:pt>
                <c:pt idx="12">
                  <c:v>97.9</c:v>
                </c:pt>
                <c:pt idx="13">
                  <c:v>98.1</c:v>
                </c:pt>
                <c:pt idx="14">
                  <c:v>98.3</c:v>
                </c:pt>
                <c:pt idx="15">
                  <c:v>99.3</c:v>
                </c:pt>
                <c:pt idx="16">
                  <c:v>99.5</c:v>
                </c:pt>
                <c:pt idx="17">
                  <c:v>99.6</c:v>
                </c:pt>
                <c:pt idx="18">
                  <c:v>99</c:v>
                </c:pt>
                <c:pt idx="19">
                  <c:v>98.9</c:v>
                </c:pt>
                <c:pt idx="20">
                  <c:v>99</c:v>
                </c:pt>
                <c:pt idx="21">
                  <c:v>99.8</c:v>
                </c:pt>
                <c:pt idx="22">
                  <c:v>100.2</c:v>
                </c:pt>
                <c:pt idx="23">
                  <c:v>100.4</c:v>
                </c:pt>
                <c:pt idx="24">
                  <c:v>100.4</c:v>
                </c:pt>
                <c:pt idx="25">
                  <c:v>100.4</c:v>
                </c:pt>
                <c:pt idx="26">
                  <c:v>100.7</c:v>
                </c:pt>
                <c:pt idx="27">
                  <c:v>101.5</c:v>
                </c:pt>
                <c:pt idx="28">
                  <c:v>102.1</c:v>
                </c:pt>
                <c:pt idx="29">
                  <c:v>102.4</c:v>
                </c:pt>
                <c:pt idx="30">
                  <c:v>102.2</c:v>
                </c:pt>
                <c:pt idx="31">
                  <c:v>102</c:v>
                </c:pt>
                <c:pt idx="32">
                  <c:v>101.8</c:v>
                </c:pt>
                <c:pt idx="33">
                  <c:v>102.4</c:v>
                </c:pt>
                <c:pt idx="34">
                  <c:v>101.4</c:v>
                </c:pt>
                <c:pt idx="35">
                  <c:v>100.8</c:v>
                </c:pt>
                <c:pt idx="36">
                  <c:v>100.3</c:v>
                </c:pt>
                <c:pt idx="37">
                  <c:v>100.2</c:v>
                </c:pt>
                <c:pt idx="38">
                  <c:v>100</c:v>
                </c:pt>
                <c:pt idx="39">
                  <c:v>100.9</c:v>
                </c:pt>
                <c:pt idx="40">
                  <c:v>100.9</c:v>
                </c:pt>
                <c:pt idx="41">
                  <c:v>101.1</c:v>
                </c:pt>
                <c:pt idx="42">
                  <c:v>100.8</c:v>
                </c:pt>
                <c:pt idx="43">
                  <c:v>100.9</c:v>
                </c:pt>
                <c:pt idx="44">
                  <c:v>100.7</c:v>
                </c:pt>
                <c:pt idx="45">
                  <c:v>101.3</c:v>
                </c:pt>
                <c:pt idx="46">
                  <c:v>101.2</c:v>
                </c:pt>
                <c:pt idx="47">
                  <c:v>100.9</c:v>
                </c:pt>
                <c:pt idx="48">
                  <c:v>101.1</c:v>
                </c:pt>
                <c:pt idx="49">
                  <c:v>101.1</c:v>
                </c:pt>
                <c:pt idx="50">
                  <c:v>101.4</c:v>
                </c:pt>
                <c:pt idx="51">
                  <c:v>102.2</c:v>
                </c:pt>
                <c:pt idx="52">
                  <c:v>101.9</c:v>
                </c:pt>
                <c:pt idx="53">
                  <c:v>101.6</c:v>
                </c:pt>
                <c:pt idx="54">
                  <c:v>101.1</c:v>
                </c:pt>
                <c:pt idx="55">
                  <c:v>101.1</c:v>
                </c:pt>
                <c:pt idx="56">
                  <c:v>100.9</c:v>
                </c:pt>
                <c:pt idx="57">
                  <c:v>101.5</c:v>
                </c:pt>
                <c:pt idx="58">
                  <c:v>101.4</c:v>
                </c:pt>
                <c:pt idx="59">
                  <c:v>101.4</c:v>
                </c:pt>
                <c:pt idx="60">
                  <c:v>101.1</c:v>
                </c:pt>
                <c:pt idx="61">
                  <c:v>101.6</c:v>
                </c:pt>
                <c:pt idx="62">
                  <c:v>102.3</c:v>
                </c:pt>
                <c:pt idx="63">
                  <c:v>102.4</c:v>
                </c:pt>
                <c:pt idx="64">
                  <c:v>102.2</c:v>
                </c:pt>
                <c:pt idx="65">
                  <c:v>102.2</c:v>
                </c:pt>
                <c:pt idx="66">
                  <c:v>101.3</c:v>
                </c:pt>
                <c:pt idx="67">
                  <c:v>100.7</c:v>
                </c:pt>
                <c:pt idx="68">
                  <c:v>101.2</c:v>
                </c:pt>
                <c:pt idx="69">
                  <c:v>101.2</c:v>
                </c:pt>
                <c:pt idx="70">
                  <c:v>100.7</c:v>
                </c:pt>
                <c:pt idx="71">
                  <c:v>101</c:v>
                </c:pt>
                <c:pt idx="72">
                  <c:v>100.2</c:v>
                </c:pt>
                <c:pt idx="73">
                  <c:v>100.4</c:v>
                </c:pt>
                <c:pt idx="74">
                  <c:v>101.2</c:v>
                </c:pt>
                <c:pt idx="75">
                  <c:v>101.3</c:v>
                </c:pt>
                <c:pt idx="76">
                  <c:v>101.1</c:v>
                </c:pt>
                <c:pt idx="77">
                  <c:v>100.8</c:v>
                </c:pt>
                <c:pt idx="78">
                  <c:v>100.6</c:v>
                </c:pt>
                <c:pt idx="79">
                  <c:v>100.3</c:v>
                </c:pt>
                <c:pt idx="80">
                  <c:v>101</c:v>
                </c:pt>
                <c:pt idx="81">
                  <c:v>101</c:v>
                </c:pt>
                <c:pt idx="82">
                  <c:v>100.5</c:v>
                </c:pt>
                <c:pt idx="83">
                  <c:v>100.7</c:v>
                </c:pt>
                <c:pt idx="84">
                  <c:v>100.2</c:v>
                </c:pt>
                <c:pt idx="85">
                  <c:v>100.5</c:v>
                </c:pt>
                <c:pt idx="86">
                  <c:v>100.9</c:v>
                </c:pt>
                <c:pt idx="87">
                  <c:v>100.9</c:v>
                </c:pt>
                <c:pt idx="88">
                  <c:v>100.9</c:v>
                </c:pt>
                <c:pt idx="89">
                  <c:v>101</c:v>
                </c:pt>
                <c:pt idx="90">
                  <c:v>101.1</c:v>
                </c:pt>
                <c:pt idx="91">
                  <c:v>100.7</c:v>
                </c:pt>
                <c:pt idx="92">
                  <c:v>101.2</c:v>
                </c:pt>
                <c:pt idx="93">
                  <c:v>101</c:v>
                </c:pt>
                <c:pt idx="94">
                  <c:v>100.7</c:v>
                </c:pt>
                <c:pt idx="95">
                  <c:v>100.9</c:v>
                </c:pt>
                <c:pt idx="96">
                  <c:v>100.3</c:v>
                </c:pt>
                <c:pt idx="97">
                  <c:v>100.3</c:v>
                </c:pt>
                <c:pt idx="98">
                  <c:v>100.8</c:v>
                </c:pt>
                <c:pt idx="99">
                  <c:v>101</c:v>
                </c:pt>
                <c:pt idx="100">
                  <c:v>101.1</c:v>
                </c:pt>
                <c:pt idx="101">
                  <c:v>100.9</c:v>
                </c:pt>
                <c:pt idx="102">
                  <c:v>101</c:v>
                </c:pt>
                <c:pt idx="103">
                  <c:v>100.7</c:v>
                </c:pt>
                <c:pt idx="104">
                  <c:v>101.2</c:v>
                </c:pt>
                <c:pt idx="105">
                  <c:v>101.1</c:v>
                </c:pt>
                <c:pt idx="106">
                  <c:v>100.8</c:v>
                </c:pt>
                <c:pt idx="107">
                  <c:v>100.9</c:v>
                </c:pt>
                <c:pt idx="108" formatCode="0.00">
                  <c:v>100.28</c:v>
                </c:pt>
                <c:pt idx="109" formatCode="0.00">
                  <c:v>99.92</c:v>
                </c:pt>
                <c:pt idx="110" formatCode="0.00">
                  <c:v>100.39</c:v>
                </c:pt>
                <c:pt idx="111" formatCode="0.00">
                  <c:v>100.12</c:v>
                </c:pt>
                <c:pt idx="112" formatCode="0.00">
                  <c:v>100.2</c:v>
                </c:pt>
                <c:pt idx="113" formatCode="0.00">
                  <c:v>100.32</c:v>
                </c:pt>
                <c:pt idx="114" formatCode="0.00">
                  <c:v>100.13</c:v>
                </c:pt>
                <c:pt idx="115" formatCode="0.00">
                  <c:v>99.59</c:v>
                </c:pt>
                <c:pt idx="116" formatCode="0.00">
                  <c:v>99.93</c:v>
                </c:pt>
                <c:pt idx="117" formatCode="0.00">
                  <c:v>99.98</c:v>
                </c:pt>
                <c:pt idx="118" formatCode="0.00">
                  <c:v>99.63</c:v>
                </c:pt>
                <c:pt idx="119" formatCode="0.00">
                  <c:v>99.51</c:v>
                </c:pt>
                <c:pt idx="120" formatCode="0.00">
                  <c:v>98.82</c:v>
                </c:pt>
                <c:pt idx="121" formatCode="0.00">
                  <c:v>98.98</c:v>
                </c:pt>
                <c:pt idx="122" formatCode="0.00">
                  <c:v>99.36</c:v>
                </c:pt>
                <c:pt idx="123" formatCode="0.00">
                  <c:v>99.59</c:v>
                </c:pt>
                <c:pt idx="124" formatCode="0.00">
                  <c:v>99.71</c:v>
                </c:pt>
                <c:pt idx="125" formatCode="0.00">
                  <c:v>99.74</c:v>
                </c:pt>
                <c:pt idx="126" formatCode="0.00">
                  <c:v>99.66</c:v>
                </c:pt>
                <c:pt idx="127" formatCode="0.00">
                  <c:v>99.63</c:v>
                </c:pt>
                <c:pt idx="128" formatCode="0.00">
                  <c:v>99.63</c:v>
                </c:pt>
                <c:pt idx="129" formatCode="0.00">
                  <c:v>99.73</c:v>
                </c:pt>
                <c:pt idx="130" formatCode="0.00">
                  <c:v>99.43</c:v>
                </c:pt>
                <c:pt idx="131" formatCode="0.00">
                  <c:v>99.35</c:v>
                </c:pt>
                <c:pt idx="132" formatCode="0.00">
                  <c:v>99.15</c:v>
                </c:pt>
                <c:pt idx="133" formatCode="0.00">
                  <c:v>99.71</c:v>
                </c:pt>
                <c:pt idx="134" formatCode="0.00">
                  <c:v>99.85</c:v>
                </c:pt>
                <c:pt idx="135" formatCode="0.00">
                  <c:v>100.31</c:v>
                </c:pt>
                <c:pt idx="136" formatCode="0.00">
                  <c:v>100.13</c:v>
                </c:pt>
                <c:pt idx="137" formatCode="0.00">
                  <c:v>100.16</c:v>
                </c:pt>
                <c:pt idx="138" formatCode="0.00">
                  <c:v>100.24</c:v>
                </c:pt>
                <c:pt idx="139" formatCode="0.00">
                  <c:v>100.17</c:v>
                </c:pt>
                <c:pt idx="140" formatCode="0.00">
                  <c:v>100.39</c:v>
                </c:pt>
                <c:pt idx="141" formatCode="0.00">
                  <c:v>100.5</c:v>
                </c:pt>
                <c:pt idx="142" formatCode="0.00">
                  <c:v>100.22</c:v>
                </c:pt>
                <c:pt idx="143" formatCode="0.00">
                  <c:v>100.45</c:v>
                </c:pt>
                <c:pt idx="144" formatCode="0.00">
                  <c:v>99.95</c:v>
                </c:pt>
                <c:pt idx="145" formatCode="0.00">
                  <c:v>100.24</c:v>
                </c:pt>
                <c:pt idx="146" formatCode="0.00">
                  <c:v>100.56</c:v>
                </c:pt>
                <c:pt idx="147" formatCode="0.00">
                  <c:v>100.76</c:v>
                </c:pt>
                <c:pt idx="148" formatCode="0.00">
                  <c:v>101.15</c:v>
                </c:pt>
                <c:pt idx="149" formatCode="0.00">
                  <c:v>101.11</c:v>
                </c:pt>
                <c:pt idx="150" formatCode="0.00">
                  <c:v>101.47</c:v>
                </c:pt>
                <c:pt idx="151" formatCode="0.00">
                  <c:v>101.46</c:v>
                </c:pt>
                <c:pt idx="152" formatCode="0.00">
                  <c:v>101.47</c:v>
                </c:pt>
                <c:pt idx="153" formatCode="0.00">
                  <c:v>101.65</c:v>
                </c:pt>
                <c:pt idx="154" formatCode="0.00">
                  <c:v>101.24</c:v>
                </c:pt>
                <c:pt idx="155" formatCode="0.00">
                  <c:v>101.24</c:v>
                </c:pt>
                <c:pt idx="156" formatCode="0.00">
                  <c:v>100.63</c:v>
                </c:pt>
                <c:pt idx="157" formatCode="0.00">
                  <c:v>100.92</c:v>
                </c:pt>
                <c:pt idx="158" formatCode="0.00">
                  <c:v>101.23</c:v>
                </c:pt>
                <c:pt idx="159" formatCode="0.00">
                  <c:v>101.85</c:v>
                </c:pt>
                <c:pt idx="160" formatCode="0.00">
                  <c:v>101.63</c:v>
                </c:pt>
                <c:pt idx="161" formatCode="0.00">
                  <c:v>101.82</c:v>
                </c:pt>
                <c:pt idx="162" formatCode="0.00">
                  <c:v>101.87</c:v>
                </c:pt>
                <c:pt idx="163" formatCode="0.00">
                  <c:v>101.94</c:v>
                </c:pt>
                <c:pt idx="164" formatCode="0.00">
                  <c:v>101.56</c:v>
                </c:pt>
                <c:pt idx="165" formatCode="0.00">
                  <c:v>101.37</c:v>
                </c:pt>
                <c:pt idx="166" formatCode="0.00">
                  <c:v>100.92</c:v>
                </c:pt>
                <c:pt idx="167" formatCode="0.00">
                  <c:v>101.17</c:v>
                </c:pt>
                <c:pt idx="168" formatCode="0.00">
                  <c:v>100.8</c:v>
                </c:pt>
                <c:pt idx="169" formatCode="0.00">
                  <c:v>100.7</c:v>
                </c:pt>
                <c:pt idx="170" formatCode="0.00">
                  <c:v>100.78</c:v>
                </c:pt>
                <c:pt idx="171" formatCode="0.00">
                  <c:v>100.87</c:v>
                </c:pt>
                <c:pt idx="172" formatCode="0.00">
                  <c:v>100.65</c:v>
                </c:pt>
                <c:pt idx="173" formatCode="0.00">
                  <c:v>100.53</c:v>
                </c:pt>
                <c:pt idx="174" formatCode="0.00">
                  <c:v>100.63</c:v>
                </c:pt>
                <c:pt idx="175" formatCode="0.00">
                  <c:v>100.54</c:v>
                </c:pt>
                <c:pt idx="176" formatCode="0.00">
                  <c:v>100.44</c:v>
                </c:pt>
                <c:pt idx="177" formatCode="0.00">
                  <c:v>100.45</c:v>
                </c:pt>
                <c:pt idx="178" formatCode="0.00">
                  <c:v>100.09</c:v>
                </c:pt>
                <c:pt idx="179" formatCode="0.00">
                  <c:v>100.19</c:v>
                </c:pt>
                <c:pt idx="180" formatCode="0.00">
                  <c:v>100.24</c:v>
                </c:pt>
                <c:pt idx="181" formatCode="0.00">
                  <c:v>100.32</c:v>
                </c:pt>
                <c:pt idx="182" formatCode="0.00">
                  <c:v>100.53</c:v>
                </c:pt>
                <c:pt idx="183" formatCode="0.00">
                  <c:v>100.79</c:v>
                </c:pt>
                <c:pt idx="184" formatCode="0.00">
                  <c:v>100.99</c:v>
                </c:pt>
                <c:pt idx="185" formatCode="0.00">
                  <c:v>101</c:v>
                </c:pt>
              </c:numCache>
            </c:numRef>
          </c:val>
          <c:smooth val="0"/>
          <c:extLst>
            <c:ext xmlns:c16="http://schemas.microsoft.com/office/drawing/2014/chart" uri="{C3380CC4-5D6E-409C-BE32-E72D297353CC}">
              <c16:uniqueId val="{00000000-A73C-4AF5-BB49-8762CFE76996}"/>
            </c:ext>
          </c:extLst>
        </c:ser>
        <c:dLbls>
          <c:showLegendKey val="0"/>
          <c:showVal val="0"/>
          <c:showCatName val="0"/>
          <c:showSerName val="0"/>
          <c:showPercent val="0"/>
          <c:showBubbleSize val="0"/>
        </c:dLbls>
        <c:smooth val="0"/>
        <c:axId val="1125073632"/>
        <c:axId val="365832624"/>
      </c:lineChart>
      <c:catAx>
        <c:axId val="11250736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365832624"/>
        <c:crosses val="autoZero"/>
        <c:auto val="1"/>
        <c:lblAlgn val="ctr"/>
        <c:lblOffset val="100"/>
        <c:noMultiLvlLbl val="0"/>
      </c:catAx>
      <c:valAx>
        <c:axId val="365832624"/>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12507363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Schweiz</a:t>
            </a:r>
            <a:r>
              <a:rPr lang="en-US" baseline="0" dirty="0"/>
              <a:t> </a:t>
            </a:r>
            <a:r>
              <a:rPr lang="en-US" baseline="0" dirty="0" err="1"/>
              <a:t>im</a:t>
            </a:r>
            <a:r>
              <a:rPr lang="en-US" baseline="0" dirty="0"/>
              <a:t> </a:t>
            </a:r>
            <a:r>
              <a:rPr lang="en-US" baseline="0" dirty="0" err="1"/>
              <a:t>Vergleich</a:t>
            </a:r>
            <a:r>
              <a:rPr lang="en-US" baseline="0" dirty="0"/>
              <a:t>  (</a:t>
            </a:r>
            <a:r>
              <a:rPr lang="en-US" baseline="0" dirty="0" err="1"/>
              <a:t>letzter</a:t>
            </a:r>
            <a:r>
              <a:rPr lang="en-US" baseline="0" dirty="0"/>
              <a:t> Stand)</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tx>
            <c:strRef>
              <c:f>INDEX!$GG$10</c:f>
              <c:strCache>
                <c:ptCount val="1"/>
                <c:pt idx="0">
                  <c:v>6.2021</c:v>
                </c:pt>
              </c:strCache>
            </c:strRef>
          </c:tx>
          <c:spPr>
            <a:solidFill>
              <a:schemeClr val="accent1"/>
            </a:solidFill>
            <a:ln>
              <a:noFill/>
            </a:ln>
            <a:effectLst/>
          </c:spPr>
          <c:invertIfNegative val="0"/>
          <c:dPt>
            <c:idx val="32"/>
            <c:invertIfNegative val="0"/>
            <c:bubble3D val="0"/>
            <c:spPr>
              <a:solidFill>
                <a:srgbClr val="FF0000"/>
              </a:solidFill>
              <a:ln>
                <a:noFill/>
              </a:ln>
              <a:effectLst/>
            </c:spPr>
            <c:extLst>
              <c:ext xmlns:c16="http://schemas.microsoft.com/office/drawing/2014/chart" uri="{C3380CC4-5D6E-409C-BE32-E72D297353CC}">
                <c16:uniqueId val="{00000001-5F1E-4746-ACFB-175046FA04FD}"/>
              </c:ext>
            </c:extLst>
          </c:dPt>
          <c:cat>
            <c:strRef>
              <c:f>INDEX!$A$13:$A$50</c:f>
              <c:strCache>
                <c:ptCount val="38"/>
                <c:pt idx="0">
                  <c:v>Belgien</c:v>
                </c:pt>
                <c:pt idx="1">
                  <c:v>Deutschland</c:v>
                </c:pt>
                <c:pt idx="2">
                  <c:v>Irland</c:v>
                </c:pt>
                <c:pt idx="3">
                  <c:v>Griechenland</c:v>
                </c:pt>
                <c:pt idx="4">
                  <c:v>Spanien</c:v>
                </c:pt>
                <c:pt idx="5">
                  <c:v>Frankreich</c:v>
                </c:pt>
                <c:pt idx="6">
                  <c:v>Italien</c:v>
                </c:pt>
                <c:pt idx="7">
                  <c:v>Zypern</c:v>
                </c:pt>
                <c:pt idx="8">
                  <c:v>Luxemburg</c:v>
                </c:pt>
                <c:pt idx="9">
                  <c:v>Malta</c:v>
                </c:pt>
                <c:pt idx="10">
                  <c:v>Niederlande</c:v>
                </c:pt>
                <c:pt idx="11">
                  <c:v>Österreich</c:v>
                </c:pt>
                <c:pt idx="12">
                  <c:v>Portugal</c:v>
                </c:pt>
                <c:pt idx="13">
                  <c:v>Slowenien</c:v>
                </c:pt>
                <c:pt idx="14">
                  <c:v>Finnland</c:v>
                </c:pt>
                <c:pt idx="15">
                  <c:v>Slowakei</c:v>
                </c:pt>
                <c:pt idx="16">
                  <c:v>Estland</c:v>
                </c:pt>
                <c:pt idx="17">
                  <c:v>Lettland</c:v>
                </c:pt>
                <c:pt idx="18">
                  <c:v>Litauen</c:v>
                </c:pt>
                <c:pt idx="19">
                  <c:v>Eurozone 19</c:v>
                </c:pt>
                <c:pt idx="20">
                  <c:v>Bulgarien</c:v>
                </c:pt>
                <c:pt idx="21">
                  <c:v>Tschechische Rep.</c:v>
                </c:pt>
                <c:pt idx="22">
                  <c:v>Dänemark</c:v>
                </c:pt>
                <c:pt idx="23">
                  <c:v>Ungarn</c:v>
                </c:pt>
                <c:pt idx="24">
                  <c:v>Polen</c:v>
                </c:pt>
                <c:pt idx="25">
                  <c:v>Rumänien</c:v>
                </c:pt>
                <c:pt idx="26">
                  <c:v>Schweden</c:v>
                </c:pt>
                <c:pt idx="27">
                  <c:v>Kroatien</c:v>
                </c:pt>
                <c:pt idx="28">
                  <c:v>EU 27</c:v>
                </c:pt>
                <c:pt idx="29">
                  <c:v>Island</c:v>
                </c:pt>
                <c:pt idx="30">
                  <c:v>Norwegen</c:v>
                </c:pt>
                <c:pt idx="31">
                  <c:v>EWR</c:v>
                </c:pt>
                <c:pt idx="32">
                  <c:v>Schweiz¹</c:v>
                </c:pt>
                <c:pt idx="33">
                  <c:v>Vereinigtes Königr.</c:v>
                </c:pt>
                <c:pt idx="34">
                  <c:v>Türkei</c:v>
                </c:pt>
                <c:pt idx="35">
                  <c:v>Nordmazedonien</c:v>
                </c:pt>
                <c:pt idx="36">
                  <c:v>Serbien</c:v>
                </c:pt>
                <c:pt idx="37">
                  <c:v>Vereinigte Staaten</c:v>
                </c:pt>
              </c:strCache>
            </c:strRef>
          </c:cat>
          <c:val>
            <c:numRef>
              <c:f>INDEX!$GG$13:$GG$50</c:f>
              <c:numCache>
                <c:formatCode>0.0</c:formatCode>
                <c:ptCount val="38"/>
                <c:pt idx="0" formatCode="0.00">
                  <c:v>111.11</c:v>
                </c:pt>
                <c:pt idx="1">
                  <c:v>109.1</c:v>
                </c:pt>
                <c:pt idx="2">
                  <c:v>103.1</c:v>
                </c:pt>
                <c:pt idx="3" formatCode="0.00">
                  <c:v>102.17</c:v>
                </c:pt>
                <c:pt idx="4" formatCode="0.00">
                  <c:v>107.46</c:v>
                </c:pt>
                <c:pt idx="5" formatCode="0.00">
                  <c:v>107.57</c:v>
                </c:pt>
                <c:pt idx="6">
                  <c:v>105.2</c:v>
                </c:pt>
                <c:pt idx="7" formatCode="0.00">
                  <c:v>102.17</c:v>
                </c:pt>
                <c:pt idx="8" formatCode="0.00">
                  <c:v>109.35</c:v>
                </c:pt>
                <c:pt idx="9" formatCode="0.00">
                  <c:v>109.66</c:v>
                </c:pt>
                <c:pt idx="10" formatCode="0.00">
                  <c:v>109.27</c:v>
                </c:pt>
                <c:pt idx="11" formatCode="0.00">
                  <c:v>111.28</c:v>
                </c:pt>
                <c:pt idx="12" formatCode="0.00">
                  <c:v>104.91</c:v>
                </c:pt>
                <c:pt idx="13" formatCode="0.00">
                  <c:v>107.03</c:v>
                </c:pt>
                <c:pt idx="14" formatCode="0.00">
                  <c:v>105.75</c:v>
                </c:pt>
                <c:pt idx="15" formatCode="0.00">
                  <c:v>111.19</c:v>
                </c:pt>
                <c:pt idx="16" formatCode="0.00">
                  <c:v>113.76</c:v>
                </c:pt>
                <c:pt idx="17" formatCode="0.00">
                  <c:v>111.6</c:v>
                </c:pt>
                <c:pt idx="18" formatCode="0.00">
                  <c:v>114.74</c:v>
                </c:pt>
                <c:pt idx="19" formatCode="0.00">
                  <c:v>107.7</c:v>
                </c:pt>
                <c:pt idx="20" formatCode="0.00">
                  <c:v>108.2</c:v>
                </c:pt>
                <c:pt idx="21">
                  <c:v>114.5</c:v>
                </c:pt>
                <c:pt idx="22">
                  <c:v>104.5</c:v>
                </c:pt>
                <c:pt idx="23" formatCode="0.00">
                  <c:v>118.93</c:v>
                </c:pt>
                <c:pt idx="24">
                  <c:v>113.7</c:v>
                </c:pt>
                <c:pt idx="25" formatCode="0.00">
                  <c:v>114.62</c:v>
                </c:pt>
                <c:pt idx="26" formatCode="0.00">
                  <c:v>109.87</c:v>
                </c:pt>
                <c:pt idx="27" formatCode="0.00">
                  <c:v>105.4</c:v>
                </c:pt>
                <c:pt idx="28" formatCode="0.00">
                  <c:v>108.65</c:v>
                </c:pt>
                <c:pt idx="29" formatCode="0.00">
                  <c:v>108.01</c:v>
                </c:pt>
                <c:pt idx="30">
                  <c:v>116.2</c:v>
                </c:pt>
                <c:pt idx="31" formatCode="0.00">
                  <c:v>109.18</c:v>
                </c:pt>
                <c:pt idx="32" formatCode="0.00">
                  <c:v>101</c:v>
                </c:pt>
                <c:pt idx="33" formatCode="0.00">
                  <c:v>0</c:v>
                </c:pt>
                <c:pt idx="34" formatCode="0.00">
                  <c:v>209.82</c:v>
                </c:pt>
                <c:pt idx="35" formatCode="0.00">
                  <c:v>110.27</c:v>
                </c:pt>
                <c:pt idx="36" formatCode="0.00">
                  <c:v>114.6</c:v>
                </c:pt>
                <c:pt idx="37" formatCode="0.00">
                  <c:v>113.01</c:v>
                </c:pt>
              </c:numCache>
            </c:numRef>
          </c:val>
          <c:extLst>
            <c:ext xmlns:c16="http://schemas.microsoft.com/office/drawing/2014/chart" uri="{C3380CC4-5D6E-409C-BE32-E72D297353CC}">
              <c16:uniqueId val="{00000002-5F1E-4746-ACFB-175046FA04FD}"/>
            </c:ext>
          </c:extLst>
        </c:ser>
        <c:dLbls>
          <c:showLegendKey val="0"/>
          <c:showVal val="0"/>
          <c:showCatName val="0"/>
          <c:showSerName val="0"/>
          <c:showPercent val="0"/>
          <c:showBubbleSize val="0"/>
        </c:dLbls>
        <c:gapWidth val="219"/>
        <c:axId val="1143011456"/>
        <c:axId val="365821584"/>
      </c:barChart>
      <c:catAx>
        <c:axId val="1143011456"/>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365821584"/>
        <c:crosses val="autoZero"/>
        <c:auto val="1"/>
        <c:lblAlgn val="ctr"/>
        <c:lblOffset val="100"/>
        <c:noMultiLvlLbl val="0"/>
      </c:catAx>
      <c:valAx>
        <c:axId val="365821584"/>
        <c:scaling>
          <c:orientation val="minMax"/>
        </c:scaling>
        <c:delete val="0"/>
        <c:axPos val="b"/>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1430114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de-CH"/>
              <a:t>Schweiz</a:t>
            </a:r>
            <a:r>
              <a:rPr lang="de-CH" baseline="0"/>
              <a:t> im Vergleich (01.2021 - 06.2021)</a:t>
            </a:r>
            <a:endParaRPr lang="de-CH"/>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de-CH"/>
        </a:p>
      </c:txPr>
    </c:title>
    <c:autoTitleDeleted val="0"/>
    <c:plotArea>
      <c:layout/>
      <c:barChart>
        <c:barDir val="col"/>
        <c:grouping val="stacked"/>
        <c:varyColors val="0"/>
        <c:ser>
          <c:idx val="0"/>
          <c:order val="0"/>
          <c:tx>
            <c:strRef>
              <c:f>INDEX!$GB$10</c:f>
              <c:strCache>
                <c:ptCount val="1"/>
                <c:pt idx="0">
                  <c:v>1.2021</c:v>
                </c:pt>
              </c:strCache>
            </c:strRef>
          </c:tx>
          <c:spPr>
            <a:solidFill>
              <a:schemeClr val="accent1"/>
            </a:solidFill>
            <a:ln>
              <a:noFill/>
            </a:ln>
            <a:effectLst/>
          </c:spPr>
          <c:invertIfNegative val="0"/>
          <c:cat>
            <c:strRef>
              <c:f>INDEX!$A$13:$A$50</c:f>
              <c:strCache>
                <c:ptCount val="38"/>
                <c:pt idx="0">
                  <c:v>Belgien</c:v>
                </c:pt>
                <c:pt idx="1">
                  <c:v>Deutschland</c:v>
                </c:pt>
                <c:pt idx="2">
                  <c:v>Irland</c:v>
                </c:pt>
                <c:pt idx="3">
                  <c:v>Griechenland</c:v>
                </c:pt>
                <c:pt idx="4">
                  <c:v>Spanien</c:v>
                </c:pt>
                <c:pt idx="5">
                  <c:v>Frankreich</c:v>
                </c:pt>
                <c:pt idx="6">
                  <c:v>Italien</c:v>
                </c:pt>
                <c:pt idx="7">
                  <c:v>Zypern</c:v>
                </c:pt>
                <c:pt idx="8">
                  <c:v>Luxemburg</c:v>
                </c:pt>
                <c:pt idx="9">
                  <c:v>Malta</c:v>
                </c:pt>
                <c:pt idx="10">
                  <c:v>Niederlande</c:v>
                </c:pt>
                <c:pt idx="11">
                  <c:v>Österreich</c:v>
                </c:pt>
                <c:pt idx="12">
                  <c:v>Portugal</c:v>
                </c:pt>
                <c:pt idx="13">
                  <c:v>Slowenien</c:v>
                </c:pt>
                <c:pt idx="14">
                  <c:v>Finnland</c:v>
                </c:pt>
                <c:pt idx="15">
                  <c:v>Slowakei</c:v>
                </c:pt>
                <c:pt idx="16">
                  <c:v>Estland</c:v>
                </c:pt>
                <c:pt idx="17">
                  <c:v>Lettland</c:v>
                </c:pt>
                <c:pt idx="18">
                  <c:v>Litauen</c:v>
                </c:pt>
                <c:pt idx="19">
                  <c:v>Eurozone 19</c:v>
                </c:pt>
                <c:pt idx="20">
                  <c:v>Bulgarien</c:v>
                </c:pt>
                <c:pt idx="21">
                  <c:v>Tschechische Rep.</c:v>
                </c:pt>
                <c:pt idx="22">
                  <c:v>Dänemark</c:v>
                </c:pt>
                <c:pt idx="23">
                  <c:v>Ungarn</c:v>
                </c:pt>
                <c:pt idx="24">
                  <c:v>Polen</c:v>
                </c:pt>
                <c:pt idx="25">
                  <c:v>Rumänien</c:v>
                </c:pt>
                <c:pt idx="26">
                  <c:v>Schweden</c:v>
                </c:pt>
                <c:pt idx="27">
                  <c:v>Kroatien</c:v>
                </c:pt>
                <c:pt idx="28">
                  <c:v>EU 27</c:v>
                </c:pt>
                <c:pt idx="29">
                  <c:v>Island</c:v>
                </c:pt>
                <c:pt idx="30">
                  <c:v>Norwegen</c:v>
                </c:pt>
                <c:pt idx="31">
                  <c:v>EWR</c:v>
                </c:pt>
                <c:pt idx="32">
                  <c:v>Schweiz¹</c:v>
                </c:pt>
                <c:pt idx="33">
                  <c:v>Vereinigtes Königr.</c:v>
                </c:pt>
                <c:pt idx="34">
                  <c:v>Türkei</c:v>
                </c:pt>
                <c:pt idx="35">
                  <c:v>Nordmazedonien</c:v>
                </c:pt>
                <c:pt idx="36">
                  <c:v>Serbien</c:v>
                </c:pt>
                <c:pt idx="37">
                  <c:v>Vereinigte Staaten</c:v>
                </c:pt>
              </c:strCache>
            </c:strRef>
          </c:cat>
          <c:val>
            <c:numRef>
              <c:f>INDEX!$GB$13:$GB$50</c:f>
              <c:numCache>
                <c:formatCode>0.0</c:formatCode>
                <c:ptCount val="38"/>
                <c:pt idx="0" formatCode="0.00">
                  <c:v>107.82</c:v>
                </c:pt>
                <c:pt idx="1">
                  <c:v>106.8</c:v>
                </c:pt>
                <c:pt idx="2">
                  <c:v>101</c:v>
                </c:pt>
                <c:pt idx="3" formatCode="0.00">
                  <c:v>99.2</c:v>
                </c:pt>
                <c:pt idx="4" formatCode="0.00">
                  <c:v>103.87</c:v>
                </c:pt>
                <c:pt idx="5" formatCode="0.00">
                  <c:v>106.03</c:v>
                </c:pt>
                <c:pt idx="6">
                  <c:v>102.6</c:v>
                </c:pt>
                <c:pt idx="7" formatCode="0.00">
                  <c:v>98.41</c:v>
                </c:pt>
                <c:pt idx="8" formatCode="0.00">
                  <c:v>107.33</c:v>
                </c:pt>
                <c:pt idx="9" formatCode="0.00">
                  <c:v>102.22</c:v>
                </c:pt>
                <c:pt idx="10" formatCode="0.00">
                  <c:v>106.51</c:v>
                </c:pt>
                <c:pt idx="11" formatCode="0.00">
                  <c:v>109.05</c:v>
                </c:pt>
                <c:pt idx="12" formatCode="0.00">
                  <c:v>102.76</c:v>
                </c:pt>
                <c:pt idx="13" formatCode="0.00">
                  <c:v>104.2</c:v>
                </c:pt>
                <c:pt idx="14" formatCode="0.00">
                  <c:v>104.76</c:v>
                </c:pt>
                <c:pt idx="15" formatCode="0.00">
                  <c:v>109</c:v>
                </c:pt>
                <c:pt idx="16" formatCode="0.00">
                  <c:v>110.22</c:v>
                </c:pt>
                <c:pt idx="17" formatCode="0.00">
                  <c:v>108.36</c:v>
                </c:pt>
                <c:pt idx="18" formatCode="0.00">
                  <c:v>111.05</c:v>
                </c:pt>
                <c:pt idx="19" formatCode="0.00">
                  <c:v>105.32</c:v>
                </c:pt>
                <c:pt idx="20" formatCode="0.00">
                  <c:v>106.59</c:v>
                </c:pt>
                <c:pt idx="21">
                  <c:v>112.9</c:v>
                </c:pt>
                <c:pt idx="22">
                  <c:v>103</c:v>
                </c:pt>
                <c:pt idx="23" formatCode="0.00">
                  <c:v>115.12</c:v>
                </c:pt>
                <c:pt idx="24">
                  <c:v>110.8</c:v>
                </c:pt>
                <c:pt idx="25" formatCode="0.00">
                  <c:v>112.29</c:v>
                </c:pt>
                <c:pt idx="26" formatCode="0.00">
                  <c:v>108.73</c:v>
                </c:pt>
                <c:pt idx="27" formatCode="0.00">
                  <c:v>103.08</c:v>
                </c:pt>
                <c:pt idx="28" formatCode="0.00">
                  <c:v>106.27</c:v>
                </c:pt>
                <c:pt idx="29" formatCode="0.00">
                  <c:v>103.77</c:v>
                </c:pt>
                <c:pt idx="30">
                  <c:v>114.9</c:v>
                </c:pt>
                <c:pt idx="31" formatCode="0.00">
                  <c:v>106.81</c:v>
                </c:pt>
                <c:pt idx="32" formatCode="0.00">
                  <c:v>100.24</c:v>
                </c:pt>
                <c:pt idx="33">
                  <c:v>0</c:v>
                </c:pt>
                <c:pt idx="34" formatCode="0.00">
                  <c:v>196.72</c:v>
                </c:pt>
                <c:pt idx="35" formatCode="0.00">
                  <c:v>107.51</c:v>
                </c:pt>
                <c:pt idx="36">
                  <c:v>111.2</c:v>
                </c:pt>
                <c:pt idx="37" formatCode="0.00">
                  <c:v>107.89</c:v>
                </c:pt>
              </c:numCache>
            </c:numRef>
          </c:val>
          <c:extLst>
            <c:ext xmlns:c16="http://schemas.microsoft.com/office/drawing/2014/chart" uri="{C3380CC4-5D6E-409C-BE32-E72D297353CC}">
              <c16:uniqueId val="{00000000-BA8D-48CF-9BA5-3008953E7251}"/>
            </c:ext>
          </c:extLst>
        </c:ser>
        <c:ser>
          <c:idx val="1"/>
          <c:order val="1"/>
          <c:tx>
            <c:strRef>
              <c:f>INDEX!$GC$10</c:f>
              <c:strCache>
                <c:ptCount val="1"/>
                <c:pt idx="0">
                  <c:v>2.2021</c:v>
                </c:pt>
              </c:strCache>
            </c:strRef>
          </c:tx>
          <c:spPr>
            <a:solidFill>
              <a:schemeClr val="accent2"/>
            </a:solidFill>
            <a:ln>
              <a:noFill/>
            </a:ln>
            <a:effectLst/>
          </c:spPr>
          <c:invertIfNegative val="0"/>
          <c:cat>
            <c:strRef>
              <c:f>INDEX!$A$13:$A$50</c:f>
              <c:strCache>
                <c:ptCount val="38"/>
                <c:pt idx="0">
                  <c:v>Belgien</c:v>
                </c:pt>
                <c:pt idx="1">
                  <c:v>Deutschland</c:v>
                </c:pt>
                <c:pt idx="2">
                  <c:v>Irland</c:v>
                </c:pt>
                <c:pt idx="3">
                  <c:v>Griechenland</c:v>
                </c:pt>
                <c:pt idx="4">
                  <c:v>Spanien</c:v>
                </c:pt>
                <c:pt idx="5">
                  <c:v>Frankreich</c:v>
                </c:pt>
                <c:pt idx="6">
                  <c:v>Italien</c:v>
                </c:pt>
                <c:pt idx="7">
                  <c:v>Zypern</c:v>
                </c:pt>
                <c:pt idx="8">
                  <c:v>Luxemburg</c:v>
                </c:pt>
                <c:pt idx="9">
                  <c:v>Malta</c:v>
                </c:pt>
                <c:pt idx="10">
                  <c:v>Niederlande</c:v>
                </c:pt>
                <c:pt idx="11">
                  <c:v>Österreich</c:v>
                </c:pt>
                <c:pt idx="12">
                  <c:v>Portugal</c:v>
                </c:pt>
                <c:pt idx="13">
                  <c:v>Slowenien</c:v>
                </c:pt>
                <c:pt idx="14">
                  <c:v>Finnland</c:v>
                </c:pt>
                <c:pt idx="15">
                  <c:v>Slowakei</c:v>
                </c:pt>
                <c:pt idx="16">
                  <c:v>Estland</c:v>
                </c:pt>
                <c:pt idx="17">
                  <c:v>Lettland</c:v>
                </c:pt>
                <c:pt idx="18">
                  <c:v>Litauen</c:v>
                </c:pt>
                <c:pt idx="19">
                  <c:v>Eurozone 19</c:v>
                </c:pt>
                <c:pt idx="20">
                  <c:v>Bulgarien</c:v>
                </c:pt>
                <c:pt idx="21">
                  <c:v>Tschechische Rep.</c:v>
                </c:pt>
                <c:pt idx="22">
                  <c:v>Dänemark</c:v>
                </c:pt>
                <c:pt idx="23">
                  <c:v>Ungarn</c:v>
                </c:pt>
                <c:pt idx="24">
                  <c:v>Polen</c:v>
                </c:pt>
                <c:pt idx="25">
                  <c:v>Rumänien</c:v>
                </c:pt>
                <c:pt idx="26">
                  <c:v>Schweden</c:v>
                </c:pt>
                <c:pt idx="27">
                  <c:v>Kroatien</c:v>
                </c:pt>
                <c:pt idx="28">
                  <c:v>EU 27</c:v>
                </c:pt>
                <c:pt idx="29">
                  <c:v>Island</c:v>
                </c:pt>
                <c:pt idx="30">
                  <c:v>Norwegen</c:v>
                </c:pt>
                <c:pt idx="31">
                  <c:v>EWR</c:v>
                </c:pt>
                <c:pt idx="32">
                  <c:v>Schweiz¹</c:v>
                </c:pt>
                <c:pt idx="33">
                  <c:v>Vereinigtes Königr.</c:v>
                </c:pt>
                <c:pt idx="34">
                  <c:v>Türkei</c:v>
                </c:pt>
                <c:pt idx="35">
                  <c:v>Nordmazedonien</c:v>
                </c:pt>
                <c:pt idx="36">
                  <c:v>Serbien</c:v>
                </c:pt>
                <c:pt idx="37">
                  <c:v>Vereinigte Staaten</c:v>
                </c:pt>
              </c:strCache>
            </c:strRef>
          </c:cat>
          <c:val>
            <c:numRef>
              <c:f>INDEX!$GC$13:$GC$50</c:f>
              <c:numCache>
                <c:formatCode>0.0</c:formatCode>
                <c:ptCount val="38"/>
                <c:pt idx="0" formatCode="0.00">
                  <c:v>109.08</c:v>
                </c:pt>
                <c:pt idx="1">
                  <c:v>107.4</c:v>
                </c:pt>
                <c:pt idx="2">
                  <c:v>101.3</c:v>
                </c:pt>
                <c:pt idx="3" formatCode="0.00">
                  <c:v>99.39</c:v>
                </c:pt>
                <c:pt idx="4" formatCode="0.00">
                  <c:v>103.27</c:v>
                </c:pt>
                <c:pt idx="5" formatCode="0.00">
                  <c:v>106.07</c:v>
                </c:pt>
                <c:pt idx="6">
                  <c:v>102.4</c:v>
                </c:pt>
                <c:pt idx="7" formatCode="0.00">
                  <c:v>98.5</c:v>
                </c:pt>
                <c:pt idx="8" formatCode="0.00">
                  <c:v>106.67</c:v>
                </c:pt>
                <c:pt idx="9" formatCode="0.00">
                  <c:v>102.75</c:v>
                </c:pt>
                <c:pt idx="10" formatCode="0.00">
                  <c:v>107.76</c:v>
                </c:pt>
                <c:pt idx="11" formatCode="0.00">
                  <c:v>109.4</c:v>
                </c:pt>
                <c:pt idx="12" formatCode="0.00">
                  <c:v>102.27</c:v>
                </c:pt>
                <c:pt idx="13" formatCode="0.00">
                  <c:v>104.41</c:v>
                </c:pt>
                <c:pt idx="14" formatCode="0.00">
                  <c:v>105.12</c:v>
                </c:pt>
                <c:pt idx="15" formatCode="0.00">
                  <c:v>109.31</c:v>
                </c:pt>
                <c:pt idx="16" formatCode="0.00">
                  <c:v>111.16</c:v>
                </c:pt>
                <c:pt idx="17" formatCode="0.00">
                  <c:v>108.83</c:v>
                </c:pt>
                <c:pt idx="18" formatCode="0.00">
                  <c:v>111.33</c:v>
                </c:pt>
                <c:pt idx="19" formatCode="0.00">
                  <c:v>105.54</c:v>
                </c:pt>
                <c:pt idx="20" formatCode="0.00">
                  <c:v>107.16</c:v>
                </c:pt>
                <c:pt idx="21">
                  <c:v>113.1</c:v>
                </c:pt>
                <c:pt idx="22">
                  <c:v>103.5</c:v>
                </c:pt>
                <c:pt idx="23" formatCode="0.00">
                  <c:v>115.94</c:v>
                </c:pt>
                <c:pt idx="24">
                  <c:v>111.4</c:v>
                </c:pt>
                <c:pt idx="25" formatCode="0.00">
                  <c:v>112.76</c:v>
                </c:pt>
                <c:pt idx="26" formatCode="0.00">
                  <c:v>109.11</c:v>
                </c:pt>
                <c:pt idx="27" formatCode="0.00">
                  <c:v>103.32</c:v>
                </c:pt>
                <c:pt idx="28" formatCode="0.00">
                  <c:v>106.55</c:v>
                </c:pt>
                <c:pt idx="29" formatCode="0.00">
                  <c:v>104.62</c:v>
                </c:pt>
                <c:pt idx="30">
                  <c:v>115.8</c:v>
                </c:pt>
                <c:pt idx="31" formatCode="0.00">
                  <c:v>107.1</c:v>
                </c:pt>
                <c:pt idx="32" formatCode="0.00">
                  <c:v>100.32</c:v>
                </c:pt>
                <c:pt idx="33" formatCode="0.00">
                  <c:v>0</c:v>
                </c:pt>
                <c:pt idx="34" formatCode="0.00">
                  <c:v>198.5</c:v>
                </c:pt>
                <c:pt idx="35" formatCode="0.00">
                  <c:v>107.68</c:v>
                </c:pt>
                <c:pt idx="36">
                  <c:v>111.9</c:v>
                </c:pt>
                <c:pt idx="37" formatCode="0.00">
                  <c:v>108.6</c:v>
                </c:pt>
              </c:numCache>
            </c:numRef>
          </c:val>
          <c:extLst>
            <c:ext xmlns:c16="http://schemas.microsoft.com/office/drawing/2014/chart" uri="{C3380CC4-5D6E-409C-BE32-E72D297353CC}">
              <c16:uniqueId val="{00000001-BA8D-48CF-9BA5-3008953E7251}"/>
            </c:ext>
          </c:extLst>
        </c:ser>
        <c:ser>
          <c:idx val="2"/>
          <c:order val="2"/>
          <c:tx>
            <c:strRef>
              <c:f>INDEX!$GD$10</c:f>
              <c:strCache>
                <c:ptCount val="1"/>
                <c:pt idx="0">
                  <c:v>3.2021</c:v>
                </c:pt>
              </c:strCache>
            </c:strRef>
          </c:tx>
          <c:spPr>
            <a:solidFill>
              <a:schemeClr val="accent3"/>
            </a:solidFill>
            <a:ln>
              <a:noFill/>
            </a:ln>
            <a:effectLst/>
          </c:spPr>
          <c:invertIfNegative val="0"/>
          <c:cat>
            <c:strRef>
              <c:f>INDEX!$A$13:$A$50</c:f>
              <c:strCache>
                <c:ptCount val="38"/>
                <c:pt idx="0">
                  <c:v>Belgien</c:v>
                </c:pt>
                <c:pt idx="1">
                  <c:v>Deutschland</c:v>
                </c:pt>
                <c:pt idx="2">
                  <c:v>Irland</c:v>
                </c:pt>
                <c:pt idx="3">
                  <c:v>Griechenland</c:v>
                </c:pt>
                <c:pt idx="4">
                  <c:v>Spanien</c:v>
                </c:pt>
                <c:pt idx="5">
                  <c:v>Frankreich</c:v>
                </c:pt>
                <c:pt idx="6">
                  <c:v>Italien</c:v>
                </c:pt>
                <c:pt idx="7">
                  <c:v>Zypern</c:v>
                </c:pt>
                <c:pt idx="8">
                  <c:v>Luxemburg</c:v>
                </c:pt>
                <c:pt idx="9">
                  <c:v>Malta</c:v>
                </c:pt>
                <c:pt idx="10">
                  <c:v>Niederlande</c:v>
                </c:pt>
                <c:pt idx="11">
                  <c:v>Österreich</c:v>
                </c:pt>
                <c:pt idx="12">
                  <c:v>Portugal</c:v>
                </c:pt>
                <c:pt idx="13">
                  <c:v>Slowenien</c:v>
                </c:pt>
                <c:pt idx="14">
                  <c:v>Finnland</c:v>
                </c:pt>
                <c:pt idx="15">
                  <c:v>Slowakei</c:v>
                </c:pt>
                <c:pt idx="16">
                  <c:v>Estland</c:v>
                </c:pt>
                <c:pt idx="17">
                  <c:v>Lettland</c:v>
                </c:pt>
                <c:pt idx="18">
                  <c:v>Litauen</c:v>
                </c:pt>
                <c:pt idx="19">
                  <c:v>Eurozone 19</c:v>
                </c:pt>
                <c:pt idx="20">
                  <c:v>Bulgarien</c:v>
                </c:pt>
                <c:pt idx="21">
                  <c:v>Tschechische Rep.</c:v>
                </c:pt>
                <c:pt idx="22">
                  <c:v>Dänemark</c:v>
                </c:pt>
                <c:pt idx="23">
                  <c:v>Ungarn</c:v>
                </c:pt>
                <c:pt idx="24">
                  <c:v>Polen</c:v>
                </c:pt>
                <c:pt idx="25">
                  <c:v>Rumänien</c:v>
                </c:pt>
                <c:pt idx="26">
                  <c:v>Schweden</c:v>
                </c:pt>
                <c:pt idx="27">
                  <c:v>Kroatien</c:v>
                </c:pt>
                <c:pt idx="28">
                  <c:v>EU 27</c:v>
                </c:pt>
                <c:pt idx="29">
                  <c:v>Island</c:v>
                </c:pt>
                <c:pt idx="30">
                  <c:v>Norwegen</c:v>
                </c:pt>
                <c:pt idx="31">
                  <c:v>EWR</c:v>
                </c:pt>
                <c:pt idx="32">
                  <c:v>Schweiz¹</c:v>
                </c:pt>
                <c:pt idx="33">
                  <c:v>Vereinigtes Königr.</c:v>
                </c:pt>
                <c:pt idx="34">
                  <c:v>Türkei</c:v>
                </c:pt>
                <c:pt idx="35">
                  <c:v>Nordmazedonien</c:v>
                </c:pt>
                <c:pt idx="36">
                  <c:v>Serbien</c:v>
                </c:pt>
                <c:pt idx="37">
                  <c:v>Vereinigte Staaten</c:v>
                </c:pt>
              </c:strCache>
            </c:strRef>
          </c:cat>
          <c:val>
            <c:numRef>
              <c:f>INDEX!$GD$13:$GD$51</c:f>
              <c:numCache>
                <c:formatCode>0.0</c:formatCode>
                <c:ptCount val="39"/>
                <c:pt idx="0" formatCode="0.00">
                  <c:v>110.07</c:v>
                </c:pt>
                <c:pt idx="1">
                  <c:v>107.9</c:v>
                </c:pt>
                <c:pt idx="2">
                  <c:v>102.2</c:v>
                </c:pt>
                <c:pt idx="3" formatCode="0.00">
                  <c:v>100.43</c:v>
                </c:pt>
                <c:pt idx="4" formatCode="0.00">
                  <c:v>105.22</c:v>
                </c:pt>
                <c:pt idx="5" formatCode="0.00">
                  <c:v>106.8</c:v>
                </c:pt>
                <c:pt idx="6">
                  <c:v>104.2</c:v>
                </c:pt>
                <c:pt idx="7" formatCode="0.00">
                  <c:v>99.89</c:v>
                </c:pt>
                <c:pt idx="8" formatCode="0.00">
                  <c:v>108.59</c:v>
                </c:pt>
                <c:pt idx="9" formatCode="0.00">
                  <c:v>103.75</c:v>
                </c:pt>
                <c:pt idx="10" formatCode="0.00">
                  <c:v>108.09</c:v>
                </c:pt>
                <c:pt idx="11" formatCode="0.00">
                  <c:v>110.69</c:v>
                </c:pt>
                <c:pt idx="12" formatCode="0.00">
                  <c:v>103.8</c:v>
                </c:pt>
                <c:pt idx="13" formatCode="0.00">
                  <c:v>105.04</c:v>
                </c:pt>
                <c:pt idx="14" formatCode="0.00">
                  <c:v>105.44</c:v>
                </c:pt>
                <c:pt idx="15" formatCode="0.00">
                  <c:v>109.93</c:v>
                </c:pt>
                <c:pt idx="16" formatCode="0.00">
                  <c:v>110.87</c:v>
                </c:pt>
                <c:pt idx="17" formatCode="0.00">
                  <c:v>109.66</c:v>
                </c:pt>
                <c:pt idx="18" formatCode="0.00">
                  <c:v>112.43</c:v>
                </c:pt>
                <c:pt idx="19" formatCode="0.00">
                  <c:v>106.53</c:v>
                </c:pt>
                <c:pt idx="20" formatCode="0.00">
                  <c:v>107.33</c:v>
                </c:pt>
                <c:pt idx="21">
                  <c:v>113.3</c:v>
                </c:pt>
                <c:pt idx="22">
                  <c:v>103.6</c:v>
                </c:pt>
                <c:pt idx="23" formatCode="0.00">
                  <c:v>116.83</c:v>
                </c:pt>
                <c:pt idx="24">
                  <c:v>112.4</c:v>
                </c:pt>
                <c:pt idx="25" formatCode="0.00">
                  <c:v>113.23</c:v>
                </c:pt>
                <c:pt idx="26" formatCode="0.00">
                  <c:v>109.22</c:v>
                </c:pt>
                <c:pt idx="27" formatCode="0.00">
                  <c:v>104.34</c:v>
                </c:pt>
                <c:pt idx="28" formatCode="0.00">
                  <c:v>107.46</c:v>
                </c:pt>
                <c:pt idx="29" formatCode="0.00">
                  <c:v>104.98</c:v>
                </c:pt>
                <c:pt idx="30">
                  <c:v>115.5</c:v>
                </c:pt>
                <c:pt idx="31" formatCode="0.00">
                  <c:v>107.99</c:v>
                </c:pt>
                <c:pt idx="32" formatCode="0.00">
                  <c:v>100.53</c:v>
                </c:pt>
                <c:pt idx="33" formatCode="0.00">
                  <c:v>0</c:v>
                </c:pt>
                <c:pt idx="34" formatCode="0.00">
                  <c:v>200.65</c:v>
                </c:pt>
                <c:pt idx="35" formatCode="0.00">
                  <c:v>108.24</c:v>
                </c:pt>
                <c:pt idx="36">
                  <c:v>112.4</c:v>
                </c:pt>
                <c:pt idx="37" formatCode="0.00">
                  <c:v>109.55</c:v>
                </c:pt>
              </c:numCache>
            </c:numRef>
          </c:val>
          <c:extLst>
            <c:ext xmlns:c16="http://schemas.microsoft.com/office/drawing/2014/chart" uri="{C3380CC4-5D6E-409C-BE32-E72D297353CC}">
              <c16:uniqueId val="{00000002-BA8D-48CF-9BA5-3008953E7251}"/>
            </c:ext>
          </c:extLst>
        </c:ser>
        <c:ser>
          <c:idx val="3"/>
          <c:order val="3"/>
          <c:tx>
            <c:strRef>
              <c:f>INDEX!$GE$10</c:f>
              <c:strCache>
                <c:ptCount val="1"/>
                <c:pt idx="0">
                  <c:v>4.2021</c:v>
                </c:pt>
              </c:strCache>
            </c:strRef>
          </c:tx>
          <c:spPr>
            <a:solidFill>
              <a:schemeClr val="accent4"/>
            </a:solidFill>
            <a:ln>
              <a:noFill/>
            </a:ln>
            <a:effectLst/>
          </c:spPr>
          <c:invertIfNegative val="0"/>
          <c:cat>
            <c:strRef>
              <c:f>INDEX!$A$13:$A$50</c:f>
              <c:strCache>
                <c:ptCount val="38"/>
                <c:pt idx="0">
                  <c:v>Belgien</c:v>
                </c:pt>
                <c:pt idx="1">
                  <c:v>Deutschland</c:v>
                </c:pt>
                <c:pt idx="2">
                  <c:v>Irland</c:v>
                </c:pt>
                <c:pt idx="3">
                  <c:v>Griechenland</c:v>
                </c:pt>
                <c:pt idx="4">
                  <c:v>Spanien</c:v>
                </c:pt>
                <c:pt idx="5">
                  <c:v>Frankreich</c:v>
                </c:pt>
                <c:pt idx="6">
                  <c:v>Italien</c:v>
                </c:pt>
                <c:pt idx="7">
                  <c:v>Zypern</c:v>
                </c:pt>
                <c:pt idx="8">
                  <c:v>Luxemburg</c:v>
                </c:pt>
                <c:pt idx="9">
                  <c:v>Malta</c:v>
                </c:pt>
                <c:pt idx="10">
                  <c:v>Niederlande</c:v>
                </c:pt>
                <c:pt idx="11">
                  <c:v>Österreich</c:v>
                </c:pt>
                <c:pt idx="12">
                  <c:v>Portugal</c:v>
                </c:pt>
                <c:pt idx="13">
                  <c:v>Slowenien</c:v>
                </c:pt>
                <c:pt idx="14">
                  <c:v>Finnland</c:v>
                </c:pt>
                <c:pt idx="15">
                  <c:v>Slowakei</c:v>
                </c:pt>
                <c:pt idx="16">
                  <c:v>Estland</c:v>
                </c:pt>
                <c:pt idx="17">
                  <c:v>Lettland</c:v>
                </c:pt>
                <c:pt idx="18">
                  <c:v>Litauen</c:v>
                </c:pt>
                <c:pt idx="19">
                  <c:v>Eurozone 19</c:v>
                </c:pt>
                <c:pt idx="20">
                  <c:v>Bulgarien</c:v>
                </c:pt>
                <c:pt idx="21">
                  <c:v>Tschechische Rep.</c:v>
                </c:pt>
                <c:pt idx="22">
                  <c:v>Dänemark</c:v>
                </c:pt>
                <c:pt idx="23">
                  <c:v>Ungarn</c:v>
                </c:pt>
                <c:pt idx="24">
                  <c:v>Polen</c:v>
                </c:pt>
                <c:pt idx="25">
                  <c:v>Rumänien</c:v>
                </c:pt>
                <c:pt idx="26">
                  <c:v>Schweden</c:v>
                </c:pt>
                <c:pt idx="27">
                  <c:v>Kroatien</c:v>
                </c:pt>
                <c:pt idx="28">
                  <c:v>EU 27</c:v>
                </c:pt>
                <c:pt idx="29">
                  <c:v>Island</c:v>
                </c:pt>
                <c:pt idx="30">
                  <c:v>Norwegen</c:v>
                </c:pt>
                <c:pt idx="31">
                  <c:v>EWR</c:v>
                </c:pt>
                <c:pt idx="32">
                  <c:v>Schweiz¹</c:v>
                </c:pt>
                <c:pt idx="33">
                  <c:v>Vereinigtes Königr.</c:v>
                </c:pt>
                <c:pt idx="34">
                  <c:v>Türkei</c:v>
                </c:pt>
                <c:pt idx="35">
                  <c:v>Nordmazedonien</c:v>
                </c:pt>
                <c:pt idx="36">
                  <c:v>Serbien</c:v>
                </c:pt>
                <c:pt idx="37">
                  <c:v>Vereinigte Staaten</c:v>
                </c:pt>
              </c:strCache>
            </c:strRef>
          </c:cat>
          <c:val>
            <c:numRef>
              <c:f>INDEX!$GE$13:$GE$50</c:f>
              <c:numCache>
                <c:formatCode>0.0</c:formatCode>
                <c:ptCount val="38"/>
                <c:pt idx="0" formatCode="0.00">
                  <c:v>110.32</c:v>
                </c:pt>
                <c:pt idx="1">
                  <c:v>108.4</c:v>
                </c:pt>
                <c:pt idx="2">
                  <c:v>102.8</c:v>
                </c:pt>
                <c:pt idx="3" formatCode="0.00">
                  <c:v>101.29</c:v>
                </c:pt>
                <c:pt idx="4" formatCode="0.00">
                  <c:v>106.39</c:v>
                </c:pt>
                <c:pt idx="5" formatCode="0.00">
                  <c:v>107.02</c:v>
                </c:pt>
                <c:pt idx="6">
                  <c:v>105.1</c:v>
                </c:pt>
                <c:pt idx="7" formatCode="0.00">
                  <c:v>100.7</c:v>
                </c:pt>
                <c:pt idx="8" formatCode="0.00">
                  <c:v>108.56</c:v>
                </c:pt>
                <c:pt idx="9" formatCode="0.00">
                  <c:v>106.77</c:v>
                </c:pt>
                <c:pt idx="10" formatCode="0.00">
                  <c:v>108.95</c:v>
                </c:pt>
                <c:pt idx="11" formatCode="0.00">
                  <c:v>110.83</c:v>
                </c:pt>
                <c:pt idx="12" formatCode="0.00">
                  <c:v>104.36</c:v>
                </c:pt>
                <c:pt idx="13" formatCode="0.00">
                  <c:v>105.85</c:v>
                </c:pt>
                <c:pt idx="14" formatCode="0.00">
                  <c:v>105.85</c:v>
                </c:pt>
                <c:pt idx="15" formatCode="0.00">
                  <c:v>110.1</c:v>
                </c:pt>
                <c:pt idx="16" formatCode="0.00">
                  <c:v>111.3</c:v>
                </c:pt>
                <c:pt idx="17" formatCode="0.00">
                  <c:v>110.65</c:v>
                </c:pt>
                <c:pt idx="18" formatCode="0.00">
                  <c:v>113.57</c:v>
                </c:pt>
                <c:pt idx="19" formatCode="0.00">
                  <c:v>107.14</c:v>
                </c:pt>
                <c:pt idx="20" formatCode="0.00">
                  <c:v>108.08</c:v>
                </c:pt>
                <c:pt idx="21">
                  <c:v>114</c:v>
                </c:pt>
                <c:pt idx="22">
                  <c:v>104.1</c:v>
                </c:pt>
                <c:pt idx="23" formatCode="0.00">
                  <c:v>117.75</c:v>
                </c:pt>
                <c:pt idx="24">
                  <c:v>113.2</c:v>
                </c:pt>
                <c:pt idx="25" formatCode="0.00">
                  <c:v>113.7</c:v>
                </c:pt>
                <c:pt idx="26" formatCode="0.00">
                  <c:v>109.54</c:v>
                </c:pt>
                <c:pt idx="27" formatCode="0.00">
                  <c:v>104.9</c:v>
                </c:pt>
                <c:pt idx="28" formatCode="0.00">
                  <c:v>108.08</c:v>
                </c:pt>
                <c:pt idx="29" formatCode="0.00">
                  <c:v>105.37</c:v>
                </c:pt>
                <c:pt idx="30">
                  <c:v>115.9</c:v>
                </c:pt>
                <c:pt idx="31" formatCode="0.00">
                  <c:v>108.61</c:v>
                </c:pt>
                <c:pt idx="32" formatCode="0.00">
                  <c:v>100.79</c:v>
                </c:pt>
                <c:pt idx="33" formatCode="0.00">
                  <c:v>0</c:v>
                </c:pt>
                <c:pt idx="34" formatCode="0.00">
                  <c:v>204.02</c:v>
                </c:pt>
                <c:pt idx="35" formatCode="0.00">
                  <c:v>109.15</c:v>
                </c:pt>
                <c:pt idx="36" formatCode="0.00">
                  <c:v>113.6</c:v>
                </c:pt>
                <c:pt idx="37" formatCode="0.00">
                  <c:v>110.67</c:v>
                </c:pt>
              </c:numCache>
            </c:numRef>
          </c:val>
          <c:extLst>
            <c:ext xmlns:c16="http://schemas.microsoft.com/office/drawing/2014/chart" uri="{C3380CC4-5D6E-409C-BE32-E72D297353CC}">
              <c16:uniqueId val="{00000003-BA8D-48CF-9BA5-3008953E7251}"/>
            </c:ext>
          </c:extLst>
        </c:ser>
        <c:ser>
          <c:idx val="4"/>
          <c:order val="4"/>
          <c:tx>
            <c:strRef>
              <c:f>INDEX!$GF$10</c:f>
              <c:strCache>
                <c:ptCount val="1"/>
                <c:pt idx="0">
                  <c:v>5.2021</c:v>
                </c:pt>
              </c:strCache>
            </c:strRef>
          </c:tx>
          <c:spPr>
            <a:solidFill>
              <a:schemeClr val="accent5"/>
            </a:solidFill>
            <a:ln>
              <a:noFill/>
            </a:ln>
            <a:effectLst/>
          </c:spPr>
          <c:invertIfNegative val="0"/>
          <c:cat>
            <c:strRef>
              <c:f>INDEX!$A$13:$A$50</c:f>
              <c:strCache>
                <c:ptCount val="38"/>
                <c:pt idx="0">
                  <c:v>Belgien</c:v>
                </c:pt>
                <c:pt idx="1">
                  <c:v>Deutschland</c:v>
                </c:pt>
                <c:pt idx="2">
                  <c:v>Irland</c:v>
                </c:pt>
                <c:pt idx="3">
                  <c:v>Griechenland</c:v>
                </c:pt>
                <c:pt idx="4">
                  <c:v>Spanien</c:v>
                </c:pt>
                <c:pt idx="5">
                  <c:v>Frankreich</c:v>
                </c:pt>
                <c:pt idx="6">
                  <c:v>Italien</c:v>
                </c:pt>
                <c:pt idx="7">
                  <c:v>Zypern</c:v>
                </c:pt>
                <c:pt idx="8">
                  <c:v>Luxemburg</c:v>
                </c:pt>
                <c:pt idx="9">
                  <c:v>Malta</c:v>
                </c:pt>
                <c:pt idx="10">
                  <c:v>Niederlande</c:v>
                </c:pt>
                <c:pt idx="11">
                  <c:v>Österreich</c:v>
                </c:pt>
                <c:pt idx="12">
                  <c:v>Portugal</c:v>
                </c:pt>
                <c:pt idx="13">
                  <c:v>Slowenien</c:v>
                </c:pt>
                <c:pt idx="14">
                  <c:v>Finnland</c:v>
                </c:pt>
                <c:pt idx="15">
                  <c:v>Slowakei</c:v>
                </c:pt>
                <c:pt idx="16">
                  <c:v>Estland</c:v>
                </c:pt>
                <c:pt idx="17">
                  <c:v>Lettland</c:v>
                </c:pt>
                <c:pt idx="18">
                  <c:v>Litauen</c:v>
                </c:pt>
                <c:pt idx="19">
                  <c:v>Eurozone 19</c:v>
                </c:pt>
                <c:pt idx="20">
                  <c:v>Bulgarien</c:v>
                </c:pt>
                <c:pt idx="21">
                  <c:v>Tschechische Rep.</c:v>
                </c:pt>
                <c:pt idx="22">
                  <c:v>Dänemark</c:v>
                </c:pt>
                <c:pt idx="23">
                  <c:v>Ungarn</c:v>
                </c:pt>
                <c:pt idx="24">
                  <c:v>Polen</c:v>
                </c:pt>
                <c:pt idx="25">
                  <c:v>Rumänien</c:v>
                </c:pt>
                <c:pt idx="26">
                  <c:v>Schweden</c:v>
                </c:pt>
                <c:pt idx="27">
                  <c:v>Kroatien</c:v>
                </c:pt>
                <c:pt idx="28">
                  <c:v>EU 27</c:v>
                </c:pt>
                <c:pt idx="29">
                  <c:v>Island</c:v>
                </c:pt>
                <c:pt idx="30">
                  <c:v>Norwegen</c:v>
                </c:pt>
                <c:pt idx="31">
                  <c:v>EWR</c:v>
                </c:pt>
                <c:pt idx="32">
                  <c:v>Schweiz¹</c:v>
                </c:pt>
                <c:pt idx="33">
                  <c:v>Vereinigtes Königr.</c:v>
                </c:pt>
                <c:pt idx="34">
                  <c:v>Türkei</c:v>
                </c:pt>
                <c:pt idx="35">
                  <c:v>Nordmazedonien</c:v>
                </c:pt>
                <c:pt idx="36">
                  <c:v>Serbien</c:v>
                </c:pt>
                <c:pt idx="37">
                  <c:v>Vereinigte Staaten</c:v>
                </c:pt>
              </c:strCache>
            </c:strRef>
          </c:cat>
          <c:val>
            <c:numRef>
              <c:f>INDEX!$GF$13:$GF$50</c:f>
              <c:numCache>
                <c:formatCode>0.0</c:formatCode>
                <c:ptCount val="38"/>
                <c:pt idx="0" formatCode="0.00">
                  <c:v>110.62</c:v>
                </c:pt>
                <c:pt idx="1">
                  <c:v>108.7</c:v>
                </c:pt>
                <c:pt idx="2">
                  <c:v>103</c:v>
                </c:pt>
                <c:pt idx="3" formatCode="0.00">
                  <c:v>100.98</c:v>
                </c:pt>
                <c:pt idx="4" formatCode="0.00">
                  <c:v>106.95</c:v>
                </c:pt>
                <c:pt idx="5" formatCode="0.00">
                  <c:v>107.38</c:v>
                </c:pt>
                <c:pt idx="6">
                  <c:v>105</c:v>
                </c:pt>
                <c:pt idx="7" formatCode="0.00">
                  <c:v>101.15</c:v>
                </c:pt>
                <c:pt idx="8" formatCode="0.00">
                  <c:v>109.02</c:v>
                </c:pt>
                <c:pt idx="9" formatCode="0.00">
                  <c:v>108.19</c:v>
                </c:pt>
                <c:pt idx="10" formatCode="0.00">
                  <c:v>109.11</c:v>
                </c:pt>
                <c:pt idx="11" formatCode="0.00">
                  <c:v>111.04</c:v>
                </c:pt>
                <c:pt idx="12" formatCode="0.00">
                  <c:v>104.7</c:v>
                </c:pt>
                <c:pt idx="13" formatCode="0.00">
                  <c:v>106.62</c:v>
                </c:pt>
                <c:pt idx="14" formatCode="0.00">
                  <c:v>105.88</c:v>
                </c:pt>
                <c:pt idx="15" formatCode="0.00">
                  <c:v>110.78</c:v>
                </c:pt>
                <c:pt idx="16" formatCode="0.00">
                  <c:v>112.38</c:v>
                </c:pt>
                <c:pt idx="17" formatCode="0.00">
                  <c:v>111.27</c:v>
                </c:pt>
                <c:pt idx="18" formatCode="0.00">
                  <c:v>114.19</c:v>
                </c:pt>
                <c:pt idx="19" formatCode="0.00">
                  <c:v>107.42</c:v>
                </c:pt>
                <c:pt idx="20" formatCode="0.00">
                  <c:v>108.23</c:v>
                </c:pt>
                <c:pt idx="21">
                  <c:v>114.1</c:v>
                </c:pt>
                <c:pt idx="22">
                  <c:v>104.4</c:v>
                </c:pt>
                <c:pt idx="23" formatCode="0.00">
                  <c:v>118.4</c:v>
                </c:pt>
                <c:pt idx="24">
                  <c:v>113.6</c:v>
                </c:pt>
                <c:pt idx="25" formatCode="0.00">
                  <c:v>114.34</c:v>
                </c:pt>
                <c:pt idx="26" formatCode="0.00">
                  <c:v>109.79</c:v>
                </c:pt>
                <c:pt idx="27" formatCode="0.00">
                  <c:v>105.01</c:v>
                </c:pt>
                <c:pt idx="28" formatCode="0.00">
                  <c:v>108.38</c:v>
                </c:pt>
                <c:pt idx="29" formatCode="0.00">
                  <c:v>106.2</c:v>
                </c:pt>
                <c:pt idx="30">
                  <c:v>115.7</c:v>
                </c:pt>
                <c:pt idx="31" formatCode="0.00">
                  <c:v>108.91</c:v>
                </c:pt>
                <c:pt idx="32" formatCode="0.00">
                  <c:v>100.99</c:v>
                </c:pt>
                <c:pt idx="33" formatCode="0.00">
                  <c:v>0</c:v>
                </c:pt>
                <c:pt idx="34" formatCode="0.00">
                  <c:v>205.82</c:v>
                </c:pt>
                <c:pt idx="35" formatCode="0.00">
                  <c:v>110.09</c:v>
                </c:pt>
                <c:pt idx="36" formatCode="0.00">
                  <c:v>114.3</c:v>
                </c:pt>
                <c:pt idx="37" formatCode="0.00">
                  <c:v>111.75</c:v>
                </c:pt>
              </c:numCache>
            </c:numRef>
          </c:val>
          <c:extLst>
            <c:ext xmlns:c16="http://schemas.microsoft.com/office/drawing/2014/chart" uri="{C3380CC4-5D6E-409C-BE32-E72D297353CC}">
              <c16:uniqueId val="{00000004-BA8D-48CF-9BA5-3008953E7251}"/>
            </c:ext>
          </c:extLst>
        </c:ser>
        <c:ser>
          <c:idx val="5"/>
          <c:order val="5"/>
          <c:tx>
            <c:strRef>
              <c:f>INDEX!$GG$10</c:f>
              <c:strCache>
                <c:ptCount val="1"/>
                <c:pt idx="0">
                  <c:v>6.2021</c:v>
                </c:pt>
              </c:strCache>
            </c:strRef>
          </c:tx>
          <c:spPr>
            <a:solidFill>
              <a:schemeClr val="accent6"/>
            </a:solidFill>
            <a:ln>
              <a:noFill/>
            </a:ln>
            <a:effectLst/>
          </c:spPr>
          <c:invertIfNegative val="0"/>
          <c:cat>
            <c:strRef>
              <c:f>INDEX!$A$13:$A$50</c:f>
              <c:strCache>
                <c:ptCount val="38"/>
                <c:pt idx="0">
                  <c:v>Belgien</c:v>
                </c:pt>
                <c:pt idx="1">
                  <c:v>Deutschland</c:v>
                </c:pt>
                <c:pt idx="2">
                  <c:v>Irland</c:v>
                </c:pt>
                <c:pt idx="3">
                  <c:v>Griechenland</c:v>
                </c:pt>
                <c:pt idx="4">
                  <c:v>Spanien</c:v>
                </c:pt>
                <c:pt idx="5">
                  <c:v>Frankreich</c:v>
                </c:pt>
                <c:pt idx="6">
                  <c:v>Italien</c:v>
                </c:pt>
                <c:pt idx="7">
                  <c:v>Zypern</c:v>
                </c:pt>
                <c:pt idx="8">
                  <c:v>Luxemburg</c:v>
                </c:pt>
                <c:pt idx="9">
                  <c:v>Malta</c:v>
                </c:pt>
                <c:pt idx="10">
                  <c:v>Niederlande</c:v>
                </c:pt>
                <c:pt idx="11">
                  <c:v>Österreich</c:v>
                </c:pt>
                <c:pt idx="12">
                  <c:v>Portugal</c:v>
                </c:pt>
                <c:pt idx="13">
                  <c:v>Slowenien</c:v>
                </c:pt>
                <c:pt idx="14">
                  <c:v>Finnland</c:v>
                </c:pt>
                <c:pt idx="15">
                  <c:v>Slowakei</c:v>
                </c:pt>
                <c:pt idx="16">
                  <c:v>Estland</c:v>
                </c:pt>
                <c:pt idx="17">
                  <c:v>Lettland</c:v>
                </c:pt>
                <c:pt idx="18">
                  <c:v>Litauen</c:v>
                </c:pt>
                <c:pt idx="19">
                  <c:v>Eurozone 19</c:v>
                </c:pt>
                <c:pt idx="20">
                  <c:v>Bulgarien</c:v>
                </c:pt>
                <c:pt idx="21">
                  <c:v>Tschechische Rep.</c:v>
                </c:pt>
                <c:pt idx="22">
                  <c:v>Dänemark</c:v>
                </c:pt>
                <c:pt idx="23">
                  <c:v>Ungarn</c:v>
                </c:pt>
                <c:pt idx="24">
                  <c:v>Polen</c:v>
                </c:pt>
                <c:pt idx="25">
                  <c:v>Rumänien</c:v>
                </c:pt>
                <c:pt idx="26">
                  <c:v>Schweden</c:v>
                </c:pt>
                <c:pt idx="27">
                  <c:v>Kroatien</c:v>
                </c:pt>
                <c:pt idx="28">
                  <c:v>EU 27</c:v>
                </c:pt>
                <c:pt idx="29">
                  <c:v>Island</c:v>
                </c:pt>
                <c:pt idx="30">
                  <c:v>Norwegen</c:v>
                </c:pt>
                <c:pt idx="31">
                  <c:v>EWR</c:v>
                </c:pt>
                <c:pt idx="32">
                  <c:v>Schweiz¹</c:v>
                </c:pt>
                <c:pt idx="33">
                  <c:v>Vereinigtes Königr.</c:v>
                </c:pt>
                <c:pt idx="34">
                  <c:v>Türkei</c:v>
                </c:pt>
                <c:pt idx="35">
                  <c:v>Nordmazedonien</c:v>
                </c:pt>
                <c:pt idx="36">
                  <c:v>Serbien</c:v>
                </c:pt>
                <c:pt idx="37">
                  <c:v>Vereinigte Staaten</c:v>
                </c:pt>
              </c:strCache>
            </c:strRef>
          </c:cat>
          <c:val>
            <c:numRef>
              <c:f>INDEX!$GG$13:$GG$50</c:f>
              <c:numCache>
                <c:formatCode>0.0</c:formatCode>
                <c:ptCount val="38"/>
                <c:pt idx="0" formatCode="0.00">
                  <c:v>111.11</c:v>
                </c:pt>
                <c:pt idx="1">
                  <c:v>109.1</c:v>
                </c:pt>
                <c:pt idx="2">
                  <c:v>103.1</c:v>
                </c:pt>
                <c:pt idx="3" formatCode="0.00">
                  <c:v>102.17</c:v>
                </c:pt>
                <c:pt idx="4" formatCode="0.00">
                  <c:v>107.46</c:v>
                </c:pt>
                <c:pt idx="5" formatCode="0.00">
                  <c:v>107.57</c:v>
                </c:pt>
                <c:pt idx="6">
                  <c:v>105.2</c:v>
                </c:pt>
                <c:pt idx="7" formatCode="0.00">
                  <c:v>102.17</c:v>
                </c:pt>
                <c:pt idx="8" formatCode="0.00">
                  <c:v>109.35</c:v>
                </c:pt>
                <c:pt idx="9" formatCode="0.00">
                  <c:v>109.66</c:v>
                </c:pt>
                <c:pt idx="10" formatCode="0.00">
                  <c:v>109.27</c:v>
                </c:pt>
                <c:pt idx="11" formatCode="0.00">
                  <c:v>111.28</c:v>
                </c:pt>
                <c:pt idx="12" formatCode="0.00">
                  <c:v>104.91</c:v>
                </c:pt>
                <c:pt idx="13" formatCode="0.00">
                  <c:v>107.03</c:v>
                </c:pt>
                <c:pt idx="14" formatCode="0.00">
                  <c:v>105.75</c:v>
                </c:pt>
                <c:pt idx="15" formatCode="0.00">
                  <c:v>111.19</c:v>
                </c:pt>
                <c:pt idx="16" formatCode="0.00">
                  <c:v>113.76</c:v>
                </c:pt>
                <c:pt idx="17" formatCode="0.00">
                  <c:v>111.6</c:v>
                </c:pt>
                <c:pt idx="18" formatCode="0.00">
                  <c:v>114.74</c:v>
                </c:pt>
                <c:pt idx="19" formatCode="0.00">
                  <c:v>107.7</c:v>
                </c:pt>
                <c:pt idx="20" formatCode="0.00">
                  <c:v>108.2</c:v>
                </c:pt>
                <c:pt idx="21">
                  <c:v>114.5</c:v>
                </c:pt>
                <c:pt idx="22">
                  <c:v>104.5</c:v>
                </c:pt>
                <c:pt idx="23" formatCode="0.00">
                  <c:v>118.93</c:v>
                </c:pt>
                <c:pt idx="24">
                  <c:v>113.7</c:v>
                </c:pt>
                <c:pt idx="25" formatCode="0.00">
                  <c:v>114.62</c:v>
                </c:pt>
                <c:pt idx="26" formatCode="0.00">
                  <c:v>109.87</c:v>
                </c:pt>
                <c:pt idx="27" formatCode="0.00">
                  <c:v>105.4</c:v>
                </c:pt>
                <c:pt idx="28" formatCode="0.00">
                  <c:v>108.65</c:v>
                </c:pt>
                <c:pt idx="29" formatCode="0.00">
                  <c:v>108.01</c:v>
                </c:pt>
                <c:pt idx="30">
                  <c:v>116.2</c:v>
                </c:pt>
                <c:pt idx="31" formatCode="0.00">
                  <c:v>109.18</c:v>
                </c:pt>
                <c:pt idx="32" formatCode="0.00">
                  <c:v>101</c:v>
                </c:pt>
                <c:pt idx="33" formatCode="0.00">
                  <c:v>0</c:v>
                </c:pt>
                <c:pt idx="34" formatCode="0.00">
                  <c:v>209.82</c:v>
                </c:pt>
                <c:pt idx="35" formatCode="0.00">
                  <c:v>110.27</c:v>
                </c:pt>
                <c:pt idx="36" formatCode="0.00">
                  <c:v>114.6</c:v>
                </c:pt>
                <c:pt idx="37" formatCode="0.00">
                  <c:v>113.01</c:v>
                </c:pt>
              </c:numCache>
            </c:numRef>
          </c:val>
          <c:extLst>
            <c:ext xmlns:c16="http://schemas.microsoft.com/office/drawing/2014/chart" uri="{C3380CC4-5D6E-409C-BE32-E72D297353CC}">
              <c16:uniqueId val="{00000005-BA8D-48CF-9BA5-3008953E7251}"/>
            </c:ext>
          </c:extLst>
        </c:ser>
        <c:dLbls>
          <c:showLegendKey val="0"/>
          <c:showVal val="0"/>
          <c:showCatName val="0"/>
          <c:showSerName val="0"/>
          <c:showPercent val="0"/>
          <c:showBubbleSize val="0"/>
        </c:dLbls>
        <c:gapWidth val="182"/>
        <c:overlap val="100"/>
        <c:axId val="1142981296"/>
        <c:axId val="365758704"/>
      </c:barChart>
      <c:catAx>
        <c:axId val="11429812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365758704"/>
        <c:crosses val="autoZero"/>
        <c:auto val="1"/>
        <c:lblAlgn val="ctr"/>
        <c:lblOffset val="100"/>
        <c:noMultiLvlLbl val="0"/>
      </c:catAx>
      <c:valAx>
        <c:axId val="36575870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114298129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8E1601-4535-B61D-1F24-39BAF984D8BB}"/>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0C3A0115-B89F-8127-E750-F217A0E677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FC0289B4-9E54-6354-854D-ABFF5B4F7913}"/>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5" name="Fußzeilenplatzhalter 4">
            <a:extLst>
              <a:ext uri="{FF2B5EF4-FFF2-40B4-BE49-F238E27FC236}">
                <a16:creationId xmlns:a16="http://schemas.microsoft.com/office/drawing/2014/main" id="{7ACB574E-8AC3-2BEC-AEEF-C0C1FA158B52}"/>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C6844EA6-B4DB-9E4C-421F-69EC4C3219C0}"/>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3948237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EF2806-68CD-F740-F3E2-19A3DE5589BC}"/>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4C816BFD-5929-ECE9-4280-6F0798389DD4}"/>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58486E4D-C036-CAE8-5D19-05A67826C141}"/>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5" name="Fußzeilenplatzhalter 4">
            <a:extLst>
              <a:ext uri="{FF2B5EF4-FFF2-40B4-BE49-F238E27FC236}">
                <a16:creationId xmlns:a16="http://schemas.microsoft.com/office/drawing/2014/main" id="{918672FE-D8CE-FA14-625D-374464CD0175}"/>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5412069C-3508-F3BF-1B29-9A660216D62E}"/>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7600545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DF3EAFA-A8AA-D021-55B3-B656FC13BCB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BDB444BC-38B0-1283-B348-FBAAFA4042B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65DC2135-8AAF-766D-1250-9AAC8F911DB6}"/>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5" name="Fußzeilenplatzhalter 4">
            <a:extLst>
              <a:ext uri="{FF2B5EF4-FFF2-40B4-BE49-F238E27FC236}">
                <a16:creationId xmlns:a16="http://schemas.microsoft.com/office/drawing/2014/main" id="{37AC3DC3-1A74-0E4C-BFD5-1CE55A8D6479}"/>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20E0EEF2-0774-3C84-776A-686D4CC6DFDF}"/>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33477622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CB09AE9-2BEA-0D5B-8E76-5C0593AC517B}"/>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9AE1AE4F-07B4-7E5F-752E-5190465227E0}"/>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4582965B-418C-2FD6-BDC1-DD488C08089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9963F63B-1C70-08B3-E281-6164E3831F02}"/>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6" name="Fußzeilenplatzhalter 5">
            <a:extLst>
              <a:ext uri="{FF2B5EF4-FFF2-40B4-BE49-F238E27FC236}">
                <a16:creationId xmlns:a16="http://schemas.microsoft.com/office/drawing/2014/main" id="{5023D5FE-B7C9-B531-ED77-A24DB04BB7A8}"/>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769E53B3-2686-D17A-6C36-71AC584C2F58}"/>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3431416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B20C7B-788C-9E3F-BECB-3326A86013AD}"/>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3F988057-896C-0965-57CE-8A42E66874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11DC9C84-4575-8D5D-127C-7BF5F3D621C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1EF61B48-B8CC-5C2E-1AF6-D02E260FFE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457C85CC-8B73-40AD-9110-FB691CAC2D2E}"/>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9BCC9455-5A87-256B-A027-520D0FF4EEEF}"/>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8" name="Fußzeilenplatzhalter 7">
            <a:extLst>
              <a:ext uri="{FF2B5EF4-FFF2-40B4-BE49-F238E27FC236}">
                <a16:creationId xmlns:a16="http://schemas.microsoft.com/office/drawing/2014/main" id="{D64E401A-57AA-7E9F-F098-1184ECEE8E0C}"/>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1335E0A4-9C9C-BD32-9DE4-0E0659BF64EE}"/>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191603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424732-C2A5-F77E-71B4-9E91CC6D2FB8}"/>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097CFED4-B988-6718-2056-9CF682B6AB4E}"/>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4" name="Fußzeilenplatzhalter 3">
            <a:extLst>
              <a:ext uri="{FF2B5EF4-FFF2-40B4-BE49-F238E27FC236}">
                <a16:creationId xmlns:a16="http://schemas.microsoft.com/office/drawing/2014/main" id="{6720D2B5-AED1-98F9-893F-5306A88E9985}"/>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750C9E51-02D8-4994-7217-944B292670E7}"/>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2176274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9DB1DA1-E4BF-4627-CA51-83C0FE5EB654}"/>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3" name="Fußzeilenplatzhalter 2">
            <a:extLst>
              <a:ext uri="{FF2B5EF4-FFF2-40B4-BE49-F238E27FC236}">
                <a16:creationId xmlns:a16="http://schemas.microsoft.com/office/drawing/2014/main" id="{19FFF626-FE87-AEAF-075D-7D996FA5EA12}"/>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F12001EE-B539-47CE-91D8-7558D05E7A9C}"/>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1739012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DE17FC-389A-A949-3D74-52DC7BC3766D}"/>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CF05070B-7386-15BB-5925-797A122F8C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1EFBE95C-3A1D-1A31-6A84-B801989F33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6DB480E5-844F-91EB-58C3-2E8E9EF9E41F}"/>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6" name="Fußzeilenplatzhalter 5">
            <a:extLst>
              <a:ext uri="{FF2B5EF4-FFF2-40B4-BE49-F238E27FC236}">
                <a16:creationId xmlns:a16="http://schemas.microsoft.com/office/drawing/2014/main" id="{973FA8A8-DCA7-E6D4-1052-B7B731A1B955}"/>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2B8A1E29-2928-E588-FF3A-5CBFAD192279}"/>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144396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C3FE84-51C5-A08D-00C2-D46C56A6B6E4}"/>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18C45B08-D0BC-172E-0802-72C63B2D67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3CBE6761-4D9D-1C91-42A5-3E5FB87502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0E19C002-E12B-A647-7EA3-EAFFC316C324}"/>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6" name="Fußzeilenplatzhalter 5">
            <a:extLst>
              <a:ext uri="{FF2B5EF4-FFF2-40B4-BE49-F238E27FC236}">
                <a16:creationId xmlns:a16="http://schemas.microsoft.com/office/drawing/2014/main" id="{2D0E253B-E3B2-A7E7-55E0-3A8050F578C7}"/>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7BA50281-9F89-966E-AF8D-E32C4A0F8096}"/>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35409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881D29-644C-C289-555F-92859AC8FE91}"/>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B1787DCA-A0C5-83E6-676D-1818290C9A67}"/>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63F1F732-09E9-1133-9885-12B04FB53FB2}"/>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5" name="Fußzeilenplatzhalter 4">
            <a:extLst>
              <a:ext uri="{FF2B5EF4-FFF2-40B4-BE49-F238E27FC236}">
                <a16:creationId xmlns:a16="http://schemas.microsoft.com/office/drawing/2014/main" id="{65FE35D7-666B-B884-24D4-47F1F1D109EC}"/>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5239ECA3-EB32-82B4-5008-D6F98E0AF656}"/>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2387767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0A04CAB-EF3C-6F43-371E-C5A241004946}"/>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94B3FFB2-84C8-E477-6128-05674D96B6A2}"/>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BF93D617-3A7A-6F12-EDAB-526BF9446F54}"/>
              </a:ext>
            </a:extLst>
          </p:cNvPr>
          <p:cNvSpPr>
            <a:spLocks noGrp="1"/>
          </p:cNvSpPr>
          <p:nvPr>
            <p:ph type="dt" sz="half" idx="10"/>
          </p:nvPr>
        </p:nvSpPr>
        <p:spPr/>
        <p:txBody>
          <a:bodyPr/>
          <a:lstStyle/>
          <a:p>
            <a:fld id="{EAF56729-09C8-4043-9E51-2DF627774B77}" type="datetimeFigureOut">
              <a:rPr lang="de-CH" smtClean="0"/>
              <a:t>11.09.2026</a:t>
            </a:fld>
            <a:endParaRPr lang="de-CH"/>
          </a:p>
        </p:txBody>
      </p:sp>
      <p:sp>
        <p:nvSpPr>
          <p:cNvPr id="5" name="Fußzeilenplatzhalter 4">
            <a:extLst>
              <a:ext uri="{FF2B5EF4-FFF2-40B4-BE49-F238E27FC236}">
                <a16:creationId xmlns:a16="http://schemas.microsoft.com/office/drawing/2014/main" id="{EC44478C-B0C5-D455-AE84-AC59058C1DCC}"/>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81871495-BD8C-9546-0BAA-C5E6D1EB7DBB}"/>
              </a:ext>
            </a:extLst>
          </p:cNvPr>
          <p:cNvSpPr>
            <a:spLocks noGrp="1"/>
          </p:cNvSpPr>
          <p:nvPr>
            <p:ph type="sldNum" sz="quarter" idx="12"/>
          </p:nvPr>
        </p:nvSpPr>
        <p:spPr/>
        <p:txBody>
          <a:bodyPr/>
          <a:lstStyle/>
          <a:p>
            <a:fld id="{A6AED3B5-11FB-447B-99A4-F6A8CFACAC52}" type="slidenum">
              <a:rPr lang="de-CH" smtClean="0"/>
              <a:t>‹Nr.›</a:t>
            </a:fld>
            <a:endParaRPr lang="de-CH"/>
          </a:p>
        </p:txBody>
      </p:sp>
    </p:spTree>
    <p:extLst>
      <p:ext uri="{BB962C8B-B14F-4D97-AF65-F5344CB8AC3E}">
        <p14:creationId xmlns:p14="http://schemas.microsoft.com/office/powerpoint/2010/main" val="21524323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05798142-F81E-7F0C-B330-36DA51FB4C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DEC2CD24-0DEF-A74B-64E3-EEF0A962C6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9FFA553F-1F92-0025-E0DC-1EA0EEC41B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F56729-09C8-4043-9E51-2DF627774B77}" type="datetimeFigureOut">
              <a:rPr lang="de-CH" smtClean="0"/>
              <a:t>11.09.2026</a:t>
            </a:fld>
            <a:endParaRPr lang="de-CH"/>
          </a:p>
        </p:txBody>
      </p:sp>
      <p:sp>
        <p:nvSpPr>
          <p:cNvPr id="5" name="Fußzeilenplatzhalter 4">
            <a:extLst>
              <a:ext uri="{FF2B5EF4-FFF2-40B4-BE49-F238E27FC236}">
                <a16:creationId xmlns:a16="http://schemas.microsoft.com/office/drawing/2014/main" id="{5884A25A-CABD-DB1B-94A5-A9EB6BE0AE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D08D23FF-04FC-B1AA-95E1-D11B3C040A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6AED3B5-11FB-447B-99A4-F6A8CFACAC52}" type="slidenum">
              <a:rPr lang="de-CH" smtClean="0"/>
              <a:t>‹Nr.›</a:t>
            </a:fld>
            <a:endParaRPr lang="de-CH"/>
          </a:p>
        </p:txBody>
      </p:sp>
    </p:spTree>
    <p:extLst>
      <p:ext uri="{BB962C8B-B14F-4D97-AF65-F5344CB8AC3E}">
        <p14:creationId xmlns:p14="http://schemas.microsoft.com/office/powerpoint/2010/main" val="1387122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E8CB30-4B43-DE06-2209-4437DC08A8E8}"/>
              </a:ext>
            </a:extLst>
          </p:cNvPr>
          <p:cNvSpPr>
            <a:spLocks noGrp="1"/>
          </p:cNvSpPr>
          <p:nvPr>
            <p:ph type="ctrTitle"/>
          </p:nvPr>
        </p:nvSpPr>
        <p:spPr/>
        <p:txBody>
          <a:bodyPr>
            <a:normAutofit fontScale="90000"/>
          </a:bodyPr>
          <a:lstStyle/>
          <a:p>
            <a:r>
              <a:rPr lang="de-CH" dirty="0"/>
              <a:t>Harmonisierter Verbraucherpreisindex (HVPI)</a:t>
            </a:r>
          </a:p>
        </p:txBody>
      </p:sp>
      <p:sp>
        <p:nvSpPr>
          <p:cNvPr id="3" name="Untertitel 2">
            <a:extLst>
              <a:ext uri="{FF2B5EF4-FFF2-40B4-BE49-F238E27FC236}">
                <a16:creationId xmlns:a16="http://schemas.microsoft.com/office/drawing/2014/main" id="{7ADCC7D0-23F5-8025-91AE-B58873179E31}"/>
              </a:ext>
            </a:extLst>
          </p:cNvPr>
          <p:cNvSpPr>
            <a:spLocks noGrp="1"/>
          </p:cNvSpPr>
          <p:nvPr>
            <p:ph type="subTitle" idx="1"/>
          </p:nvPr>
        </p:nvSpPr>
        <p:spPr/>
        <p:txBody>
          <a:bodyPr/>
          <a:lstStyle/>
          <a:p>
            <a:r>
              <a:rPr lang="de-CH" dirty="0"/>
              <a:t>Schweiz im Vergleich</a:t>
            </a:r>
          </a:p>
        </p:txBody>
      </p:sp>
    </p:spTree>
    <p:extLst>
      <p:ext uri="{BB962C8B-B14F-4D97-AF65-F5344CB8AC3E}">
        <p14:creationId xmlns:p14="http://schemas.microsoft.com/office/powerpoint/2010/main" val="17120591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Inhaltsplatzhalter 5">
            <a:extLst>
              <a:ext uri="{FF2B5EF4-FFF2-40B4-BE49-F238E27FC236}">
                <a16:creationId xmlns:a16="http://schemas.microsoft.com/office/drawing/2014/main" id="{EC125D9C-2804-70A9-2F39-70CD128D1FBB}"/>
              </a:ext>
            </a:extLst>
          </p:cNvPr>
          <p:cNvGraphicFramePr>
            <a:graphicFrameLocks noGrp="1"/>
          </p:cNvGraphicFramePr>
          <p:nvPr>
            <p:ph idx="1"/>
            <p:extLst>
              <p:ext uri="{D42A27DB-BD31-4B8C-83A1-F6EECF244321}">
                <p14:modId xmlns:p14="http://schemas.microsoft.com/office/powerpoint/2010/main" val="3546394052"/>
              </p:ext>
            </p:extLst>
          </p:nvPr>
        </p:nvGraphicFramePr>
        <p:xfrm>
          <a:off x="389467" y="911225"/>
          <a:ext cx="11252199" cy="464290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46284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nhaltsplatzhalter 3">
            <a:extLst>
              <a:ext uri="{FF2B5EF4-FFF2-40B4-BE49-F238E27FC236}">
                <a16:creationId xmlns:a16="http://schemas.microsoft.com/office/drawing/2014/main" id="{F45C8005-0DD1-5724-D9CC-B0BD34289D01}"/>
              </a:ext>
            </a:extLst>
          </p:cNvPr>
          <p:cNvGraphicFramePr>
            <a:graphicFrameLocks noGrp="1"/>
          </p:cNvGraphicFramePr>
          <p:nvPr>
            <p:ph idx="1"/>
            <p:extLst>
              <p:ext uri="{D42A27DB-BD31-4B8C-83A1-F6EECF244321}">
                <p14:modId xmlns:p14="http://schemas.microsoft.com/office/powerpoint/2010/main" val="853802591"/>
              </p:ext>
            </p:extLst>
          </p:nvPr>
        </p:nvGraphicFramePr>
        <p:xfrm>
          <a:off x="614680" y="20320"/>
          <a:ext cx="10515600" cy="683768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46004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Inhaltsplatzhalter 3">
            <a:extLst>
              <a:ext uri="{FF2B5EF4-FFF2-40B4-BE49-F238E27FC236}">
                <a16:creationId xmlns:a16="http://schemas.microsoft.com/office/drawing/2014/main" id="{41E6B049-0E8C-7FF6-C12F-0400C178A5F0}"/>
              </a:ext>
            </a:extLst>
          </p:cNvPr>
          <p:cNvGraphicFramePr>
            <a:graphicFrameLocks noGrp="1"/>
          </p:cNvGraphicFramePr>
          <p:nvPr>
            <p:ph idx="1"/>
            <p:extLst>
              <p:ext uri="{D42A27DB-BD31-4B8C-83A1-F6EECF244321}">
                <p14:modId xmlns:p14="http://schemas.microsoft.com/office/powerpoint/2010/main" val="1300551546"/>
              </p:ext>
            </p:extLst>
          </p:nvPr>
        </p:nvGraphicFramePr>
        <p:xfrm>
          <a:off x="363220" y="757078"/>
          <a:ext cx="11465560" cy="53438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1986185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7FA926C7-011C-B3EF-FEF2-ADDB6FDAF090}"/>
              </a:ext>
            </a:extLst>
          </p:cNvPr>
          <p:cNvSpPr>
            <a:spLocks noGrp="1"/>
          </p:cNvSpPr>
          <p:nvPr>
            <p:ph idx="1"/>
          </p:nvPr>
        </p:nvSpPr>
        <p:spPr>
          <a:xfrm>
            <a:off x="838200" y="1182158"/>
            <a:ext cx="10515600" cy="4351338"/>
          </a:xfrm>
        </p:spPr>
        <p:txBody>
          <a:bodyPr>
            <a:normAutofit fontScale="92500" lnSpcReduction="20000"/>
          </a:bodyPr>
          <a:lstStyle/>
          <a:p>
            <a:pPr marL="0" indent="0">
              <a:lnSpc>
                <a:spcPct val="110000"/>
              </a:lnSpc>
              <a:buNone/>
            </a:pPr>
            <a:r>
              <a:rPr lang="de-CH" dirty="0"/>
              <a:t>Die Tabelle zeigt den monatlichen Harmonisierten Verbraucherpreisindex (HVPI/HICP) für verschiedene europäische Länder im Zeitraum von 2006 bis Mitte 2021.</a:t>
            </a:r>
            <a:r>
              <a:rPr lang="de-CH" dirty="0">
                <a:effectLst/>
              </a:rPr>
              <a:t> Der HVPI misst die Entwicklung der Verbraucherpreise und dient damit als Indikator für die Inflation. Die Werte zeigen, wie stark sich das allgemeine Preisniveau im Vergleich zum entsprechenden Vorjahreszeitraum verändert hat. Dabei lassen sich deutliche Unterschiede zwischen den einzelnen Ländern erkennen. Während einige Länder, vergleichsweise niedrige Inflationsraten aufweisen, liegen die Werte in anderen Ländern deutlich höher. Die Diagramme ermöglichen somit einen direkten Vergleich der Preisentwicklung und der Inflationsdynamik innerhalb Europas.</a:t>
            </a:r>
            <a:endParaRPr lang="de-CH" dirty="0"/>
          </a:p>
        </p:txBody>
      </p:sp>
    </p:spTree>
    <p:extLst>
      <p:ext uri="{BB962C8B-B14F-4D97-AF65-F5344CB8AC3E}">
        <p14:creationId xmlns:p14="http://schemas.microsoft.com/office/powerpoint/2010/main" val="4155007160"/>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133</Words>
  <Application>Microsoft Office PowerPoint</Application>
  <PresentationFormat>Breitbild</PresentationFormat>
  <Paragraphs>6</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5</vt:i4>
      </vt:variant>
    </vt:vector>
  </HeadingPairs>
  <TitlesOfParts>
    <vt:vector size="9" baseType="lpstr">
      <vt:lpstr>Aptos</vt:lpstr>
      <vt:lpstr>Aptos Display</vt:lpstr>
      <vt:lpstr>Arial</vt:lpstr>
      <vt:lpstr>Office</vt:lpstr>
      <vt:lpstr>Harmonisierter Verbraucherpreisindex (HVPI)</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Milena Marchese</dc:creator>
  <cp:lastModifiedBy>Milena Marchese</cp:lastModifiedBy>
  <cp:revision>4</cp:revision>
  <dcterms:created xsi:type="dcterms:W3CDTF">2026-09-11T11:40:37Z</dcterms:created>
  <dcterms:modified xsi:type="dcterms:W3CDTF">2026-09-11T11:58:46Z</dcterms:modified>
</cp:coreProperties>
</file>